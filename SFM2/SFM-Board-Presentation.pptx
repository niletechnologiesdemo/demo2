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</p:sldIdLst>
  <p:notesMasterIdLst>
    <p:notesMasterId r:id="rId1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notesMaster" Target="notesMasters/notesMaster1.xml"/><Relationship Id="rId20" Type="http://schemas.openxmlformats.org/officeDocument/2006/relationships/presProps" Target="presProps.xml"/><Relationship Id="rId21" Type="http://schemas.openxmlformats.org/officeDocument/2006/relationships/viewProps" Target="viewProps.xml"/><Relationship Id="rId22" Type="http://schemas.openxmlformats.org/officeDocument/2006/relationships/theme" Target="theme/theme1.xml"/><Relationship Id="rId2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601200" y="-2743200"/>
            <a:ext cx="7315200" cy="7315200"/>
          </a:xfrm>
          <a:prstGeom prst="ellipse">
            <a:avLst/>
          </a:prstGeom>
          <a:solidFill>
            <a:srgbClr val="06B6D4">
              <a:alpha val="2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3657600" y="4114800"/>
            <a:ext cx="8229600" cy="8229600"/>
          </a:xfrm>
          <a:prstGeom prst="ellipse">
            <a:avLst/>
          </a:prstGeom>
          <a:solidFill>
            <a:srgbClr val="1B3A8C">
              <a:alpha val="50000"/>
            </a:srgbClr>
          </a:solidFill>
          <a:ln/>
        </p:spPr>
      </p:sp>
      <p:pic>
        <p:nvPicPr>
          <p:cNvPr id="4" name="Image 0" descr="/Users/aadityanilesiphone/Documents/GitHub/demo/SFM/Images/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520" y="640080"/>
            <a:ext cx="2194560" cy="100584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731520" y="2286000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OPERATIONS SYSTEM · PROPOSAL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731520" y="2743200"/>
            <a:ext cx="1051560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the</a:t>
            </a:r>
            <a:endParaRPr lang="en-US" sz="5400" dirty="0"/>
          </a:p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San Francisco Merionettes</a:t>
            </a:r>
            <a:endParaRPr lang="en-US" sz="5400" dirty="0"/>
          </a:p>
        </p:txBody>
      </p:sp>
      <p:sp>
        <p:nvSpPr>
          <p:cNvPr id="7" name="Text 4"/>
          <p:cNvSpPr/>
          <p:nvPr/>
        </p:nvSpPr>
        <p:spPr>
          <a:xfrm>
            <a:off x="731520" y="475488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platform — replacing SportsEngine, Signal, WhatsApp, fragmented Google Calendars, and scattered email.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31520" y="5943600"/>
            <a:ext cx="10698480" cy="0"/>
          </a:xfrm>
          <a:prstGeom prst="line">
            <a:avLst/>
          </a:prstGeom>
          <a:noFill/>
          <a:ln w="19050">
            <a:solidFill>
              <a:srgbClr val="06B6D4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731520" y="6126480"/>
            <a:ext cx="6400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FOR  </a:t>
            </a:r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 Board · Eileen Horng (President)</a:t>
            </a:r>
            <a:endParaRPr lang="en-US" sz="1000" dirty="0"/>
          </a:p>
        </p:txBody>
      </p:sp>
      <p:sp>
        <p:nvSpPr>
          <p:cNvPr id="10" name="Text 7"/>
          <p:cNvSpPr/>
          <p:nvPr/>
        </p:nvSpPr>
        <p:spPr>
          <a:xfrm>
            <a:off x="7132320" y="612648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spc="400" kern="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 </a:t>
            </a:r>
            <a:pPr algn="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niletechnologies.com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STATE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operations stack today is fragmented.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2194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21945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Text 4"/>
          <p:cNvSpPr/>
          <p:nvPr/>
        </p:nvSpPr>
        <p:spPr>
          <a:xfrm>
            <a:off x="621792" y="18928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SportsEngine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621792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21792" y="2834640"/>
            <a:ext cx="1865376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/>
        </p:spPr>
      </p:sp>
      <p:sp>
        <p:nvSpPr>
          <p:cNvPr id="9" name="Text 7"/>
          <p:cNvSpPr/>
          <p:nvPr/>
        </p:nvSpPr>
        <p:spPr>
          <a:xfrm>
            <a:off x="621792" y="28346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Clunky · manual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2788920" y="1691640"/>
            <a:ext cx="2194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788920" y="1691640"/>
            <a:ext cx="21945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2" name="Text 10"/>
          <p:cNvSpPr/>
          <p:nvPr/>
        </p:nvSpPr>
        <p:spPr>
          <a:xfrm>
            <a:off x="2953512" y="18928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Wix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2953512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(new)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2953512" y="2834640"/>
            <a:ext cx="1865376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/>
        </p:spPr>
      </p:sp>
      <p:sp>
        <p:nvSpPr>
          <p:cNvPr id="15" name="Text 13"/>
          <p:cNvSpPr/>
          <p:nvPr/>
        </p:nvSpPr>
        <p:spPr>
          <a:xfrm>
            <a:off x="2953512" y="28346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Separate stack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120640" y="1691640"/>
            <a:ext cx="2194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120640" y="1691640"/>
            <a:ext cx="21945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18" name="Text 16"/>
          <p:cNvSpPr/>
          <p:nvPr/>
        </p:nvSpPr>
        <p:spPr>
          <a:xfrm>
            <a:off x="5285232" y="18928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Calendar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5285232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· per coach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5285232" y="2834640"/>
            <a:ext cx="1865376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/>
        </p:spPr>
      </p:sp>
      <p:sp>
        <p:nvSpPr>
          <p:cNvPr id="21" name="Text 19"/>
          <p:cNvSpPr/>
          <p:nvPr/>
        </p:nvSpPr>
        <p:spPr>
          <a:xfrm>
            <a:off x="5285232" y="28346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452360" y="1691640"/>
            <a:ext cx="2194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452360" y="1691640"/>
            <a:ext cx="21945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24" name="Text 22"/>
          <p:cNvSpPr/>
          <p:nvPr/>
        </p:nvSpPr>
        <p:spPr>
          <a:xfrm>
            <a:off x="7616952" y="18928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Signal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7616952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↔ Parents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7616952" y="2834640"/>
            <a:ext cx="1865376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/>
        </p:spPr>
      </p:sp>
      <p:sp>
        <p:nvSpPr>
          <p:cNvPr id="27" name="Text 25"/>
          <p:cNvSpPr/>
          <p:nvPr/>
        </p:nvSpPr>
        <p:spPr>
          <a:xfrm>
            <a:off x="7616952" y="28346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audit log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9784080" y="1691640"/>
            <a:ext cx="2194560" cy="164592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784080" y="1691640"/>
            <a:ext cx="2194560" cy="73152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30" name="Text 28"/>
          <p:cNvSpPr/>
          <p:nvPr/>
        </p:nvSpPr>
        <p:spPr>
          <a:xfrm>
            <a:off x="9948672" y="1892808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WhatsApp + Email</a:t>
            </a:r>
            <a:endParaRPr lang="en-US" sz="1500" dirty="0"/>
          </a:p>
        </p:txBody>
      </p:sp>
      <p:sp>
        <p:nvSpPr>
          <p:cNvPr id="31" name="Text 29"/>
          <p:cNvSpPr/>
          <p:nvPr/>
        </p:nvSpPr>
        <p:spPr>
          <a:xfrm>
            <a:off x="9948672" y="2331720"/>
            <a:ext cx="186537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Misc comms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9948672" y="2834640"/>
            <a:ext cx="1865376" cy="292608"/>
          </a:xfrm>
          <a:prstGeom prst="roundRect">
            <a:avLst>
              <a:gd name="adj" fmla="val 15625"/>
            </a:avLst>
          </a:prstGeom>
          <a:solidFill>
            <a:srgbClr val="FEE2E2"/>
          </a:solidFill>
          <a:ln/>
        </p:spPr>
      </p:sp>
      <p:sp>
        <p:nvSpPr>
          <p:cNvPr id="33" name="Text 31"/>
          <p:cNvSpPr/>
          <p:nvPr/>
        </p:nvSpPr>
        <p:spPr>
          <a:xfrm>
            <a:off x="9948672" y="2834640"/>
            <a:ext cx="186537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Missed messages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457200" y="3749040"/>
            <a:ext cx="11247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this is costing the club</a:t>
            </a:r>
            <a:endParaRPr lang="en-US" sz="1600" dirty="0"/>
          </a:p>
        </p:txBody>
      </p:sp>
      <p:sp>
        <p:nvSpPr>
          <p:cNvPr id="35" name="Text 33"/>
          <p:cNvSpPr/>
          <p:nvPr/>
        </p:nvSpPr>
        <p:spPr>
          <a:xfrm>
            <a:off x="457200" y="4160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⚠</a:t>
            </a:r>
            <a:endParaRPr lang="en-US" sz="1700" dirty="0"/>
          </a:p>
        </p:txBody>
      </p:sp>
      <p:sp>
        <p:nvSpPr>
          <p:cNvPr id="36" name="Text 34"/>
          <p:cNvSpPr/>
          <p:nvPr/>
        </p:nvSpPr>
        <p:spPr>
          <a:xfrm>
            <a:off x="804672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formal attendance</a:t>
            </a:r>
            <a:endParaRPr lang="en-US" sz="1200" dirty="0"/>
          </a:p>
        </p:txBody>
      </p:sp>
      <p:sp>
        <p:nvSpPr>
          <p:cNvPr id="37" name="Text 35"/>
          <p:cNvSpPr/>
          <p:nvPr/>
        </p:nvSpPr>
        <p:spPr>
          <a:xfrm>
            <a:off x="804672" y="4453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Coaches mark on paper or memory · absences sent on Signal are never recorded.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4297680" y="4160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⚠</a:t>
            </a:r>
            <a:endParaRPr lang="en-US" sz="1700" dirty="0"/>
          </a:p>
        </p:txBody>
      </p:sp>
      <p:sp>
        <p:nvSpPr>
          <p:cNvPr id="39" name="Text 37"/>
          <p:cNvSpPr/>
          <p:nvPr/>
        </p:nvSpPr>
        <p:spPr>
          <a:xfrm>
            <a:off x="4645152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Fragmented communication</a:t>
            </a:r>
            <a:endParaRPr lang="en-US" sz="1200" dirty="0"/>
          </a:p>
        </p:txBody>
      </p:sp>
      <p:sp>
        <p:nvSpPr>
          <p:cNvPr id="40" name="Text 38"/>
          <p:cNvSpPr/>
          <p:nvPr/>
        </p:nvSpPr>
        <p:spPr>
          <a:xfrm>
            <a:off x="4645152" y="4453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changes spread across Signal, WhatsApp, email — some parents miss it.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8138160" y="416052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⚠</a:t>
            </a:r>
            <a:endParaRPr lang="en-US" sz="1700" dirty="0"/>
          </a:p>
        </p:txBody>
      </p:sp>
      <p:sp>
        <p:nvSpPr>
          <p:cNvPr id="42" name="Text 40"/>
          <p:cNvSpPr/>
          <p:nvPr/>
        </p:nvSpPr>
        <p:spPr>
          <a:xfrm>
            <a:off x="8485632" y="416052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master calendar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8485632" y="445312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coach has a personal Google Calendar — multi-child families check 2–3.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457200" y="5166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⚠</a:t>
            </a:r>
            <a:endParaRPr lang="en-US" sz="1700" dirty="0"/>
          </a:p>
        </p:txBody>
      </p:sp>
      <p:sp>
        <p:nvSpPr>
          <p:cNvPr id="45" name="Text 43"/>
          <p:cNvSpPr/>
          <p:nvPr/>
        </p:nvSpPr>
        <p:spPr>
          <a:xfrm>
            <a:off x="804672" y="5166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billing</a:t>
            </a:r>
            <a:endParaRPr lang="en-US" sz="1200" dirty="0"/>
          </a:p>
        </p:txBody>
      </p:sp>
      <p:sp>
        <p:nvSpPr>
          <p:cNvPr id="46" name="Text 44"/>
          <p:cNvSpPr/>
          <p:nvPr/>
        </p:nvSpPr>
        <p:spPr>
          <a:xfrm>
            <a:off x="804672" y="5458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fees + merch + dues entered by hand into SportsEngine.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4297680" y="5166360"/>
            <a:ext cx="320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59E0B"/>
                </a:solidFill>
              </a:rPr>
              <a:t>⚠</a:t>
            </a:r>
            <a:endParaRPr lang="en-US" sz="1700" dirty="0"/>
          </a:p>
        </p:txBody>
      </p:sp>
      <p:sp>
        <p:nvSpPr>
          <p:cNvPr id="48" name="Text 46"/>
          <p:cNvSpPr/>
          <p:nvPr/>
        </p:nvSpPr>
        <p:spPr>
          <a:xfrm>
            <a:off x="4645152" y="5166360"/>
            <a:ext cx="33832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lives on personal phones</a:t>
            </a:r>
            <a:endParaRPr lang="en-US" sz="1200" dirty="0"/>
          </a:p>
        </p:txBody>
      </p:sp>
      <p:sp>
        <p:nvSpPr>
          <p:cNvPr id="49" name="Text 47"/>
          <p:cNvSpPr/>
          <p:nvPr/>
        </p:nvSpPr>
        <p:spPr>
          <a:xfrm>
            <a:off x="4645152" y="5458968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coach leaves or breaks a phone, their calendar + parent groups are lost.</a:t>
            </a:r>
            <a:endParaRPr lang="en-US" sz="1000" dirty="0"/>
          </a:p>
        </p:txBody>
      </p:sp>
      <p:sp>
        <p:nvSpPr>
          <p:cNvPr id="50" name="Text 4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51" name="Text 49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17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B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platform · three role-tailored interfaces.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937760" y="2743200"/>
            <a:ext cx="2286000" cy="2286000"/>
          </a:xfrm>
          <a:prstGeom prst="ellipse">
            <a:avLst/>
          </a:prstGeom>
          <a:solidFill>
            <a:srgbClr val="06B6D4"/>
          </a:solidFill>
          <a:ln w="25400">
            <a:solidFill>
              <a:srgbClr val="FFF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937760" y="2743200"/>
            <a:ext cx="22860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SFM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Operations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548640" y="1828800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48640" y="1828800"/>
            <a:ext cx="32918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8" name="Text 6"/>
          <p:cNvSpPr/>
          <p:nvPr/>
        </p:nvSpPr>
        <p:spPr>
          <a:xfrm>
            <a:off x="73152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3152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· Treasurer · Eileen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3152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schedule · billing · members · communications · reports.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412480" y="1828800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8412480" y="1828800"/>
            <a:ext cx="32918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3" name="Text 11"/>
          <p:cNvSpPr/>
          <p:nvPr/>
        </p:nvSpPr>
        <p:spPr>
          <a:xfrm>
            <a:off x="8595360" y="199339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8595360" y="22860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Emily · Heidi · Niloo · 13 coaches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595360" y="269748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attendance · skill notes · co-coach sync · parent chats.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617720" y="5166360"/>
            <a:ext cx="3291840" cy="1691640"/>
          </a:xfrm>
          <a:prstGeom prst="rect">
            <a:avLst/>
          </a:prstGeom>
          <a:solidFill>
            <a:srgbClr val="FFFFFF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617720" y="5166360"/>
            <a:ext cx="329184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4800600" y="5330952"/>
            <a:ext cx="29260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800600" y="562356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54 families · web on phone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4800600" y="6035040"/>
            <a:ext cx="292608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Multi-child schedule · billing · absence requests · skill videos.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3840480" y="2679192"/>
            <a:ext cx="2103120" cy="1188720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22" name="Shape 20"/>
          <p:cNvSpPr/>
          <p:nvPr/>
        </p:nvSpPr>
        <p:spPr>
          <a:xfrm>
            <a:off x="7178040" y="2679192"/>
            <a:ext cx="1280160" cy="1188720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23" name="Shape 21"/>
          <p:cNvSpPr/>
          <p:nvPr/>
        </p:nvSpPr>
        <p:spPr>
          <a:xfrm>
            <a:off x="6080760" y="5029200"/>
            <a:ext cx="18288" cy="502920"/>
          </a:xfrm>
          <a:prstGeom prst="line">
            <a:avLst/>
          </a:prstGeom>
          <a:noFill/>
          <a:ln w="19050">
            <a:solidFill>
              <a:srgbClr val="06B6D4"/>
            </a:solidFill>
            <a:prstDash val="dash"/>
          </a:ln>
        </p:spPr>
      </p:sp>
      <p:sp>
        <p:nvSpPr>
          <p:cNvPr id="24" name="Text 2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17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· 1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Eileen's home base — the entire club on one screen.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758952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admin-dash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5895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554480"/>
            <a:ext cx="3520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755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FUNCTIONS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5820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KPIs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56 swimmers · $31,640 MRR · today's 5 practices · $1,990 outstanding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5820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 snapshot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5820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running session, coach, pool — visible at a glance.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58200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feed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5820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roll-up of every action across the club.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58200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Outstanding tracker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58200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swimmers behind · one-click reminder / retry.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5820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status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Sectionals — fees billed vs. collected.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17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· 2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Master Schedule replaces every coach's Google Calendar.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758952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admin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5895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554480"/>
            <a:ext cx="3520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755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FUNCTIONS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5820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unified calendar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→ Sun · all 6 teams · all 4 pools (JB · HL · Coffman · Balboa).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5820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 any practice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5820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 time, pool, coach · cancel with reason · auto-notify families.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58200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Cancelled sessions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5820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visible with a one-tap Reschedule button.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58200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Practice or New Batch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58200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class additions vs. structured 4-step new-batch wizard.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5820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Class-specific messages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practice has its own parent ↔ coach thread.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17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· 3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&amp; POS — replaces SportsEngine, supports every revenue stream.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758952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admin-bill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5895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554480"/>
            <a:ext cx="3520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755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FUNCTIONS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5820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dues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Auto-bills all 56 swimmers on the 1st — no manual entry.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5820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Competition charges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5820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Entry + per-routine fees auto-calculated by team lineup.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58200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Merch / POS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5820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Sell suits, warm-ups, caps — pickup at next practice.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58200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Onboarding bundle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58200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dues + reg fee + suit into one parent payment link.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5820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Stripe-powered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Cards · ACH · cash · ~1–2% processing only · no platform fee.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17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CONSOLE · 4 OF 4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 + categorized communications.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57784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admin-team-12ua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577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627632"/>
            <a:ext cx="557784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7" name="Image 1" descr="/Users/aadityanilesiphone/Documents/GitHub/demo/SFM/pptx-build/screenshots/admin-com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Detail · 12U A · 6-tab profile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6364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Communications · categorized into 5 streams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17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INTERFACE ·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Day — built around how coaches already co-coach.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758952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coach-toda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758952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8229600" y="1554480"/>
            <a:ext cx="352044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458200" y="17556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· DAILY VIEW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8458200" y="214884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Co-coach sync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458200" y="242316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Heidi's attendance + notes appear live in Emily's view, and vice-versa.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458200" y="292608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attendance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8458200" y="320040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 / Late / Absent pills · roster pre-loaded for the next session.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8458200" y="370332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messages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8458200" y="397764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messages tied to that specific practice show up here.</a:t>
            </a:r>
            <a:endParaRPr lang="en-US" sz="1050" dirty="0"/>
          </a:p>
        </p:txBody>
      </p:sp>
      <p:sp>
        <p:nvSpPr>
          <p:cNvPr id="14" name="Text 11"/>
          <p:cNvSpPr/>
          <p:nvPr/>
        </p:nvSpPr>
        <p:spPr>
          <a:xfrm>
            <a:off x="8458200" y="448056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Quick send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8458200" y="475488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announcement to that team's 10 families.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8458200" y="5257800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Today's other teams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8458200" y="5532120"/>
            <a:ext cx="3063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what every other coach is running across the club.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 / 17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INTERFACE ·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roster + per-swimmer skill, attendance &amp; parent messages.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57784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coach-team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577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627632"/>
            <a:ext cx="557784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7" name="Image 1" descr="/Users/aadityanilesiphone/Documents/GitHub/demo/SFM/pptx-build/screenshots/coach-swimmer-elli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Team · 12U A roster · skill bars per swimmer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6364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Swimmer Profile · skills · parent thread · co-coach notes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/ 17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INTERFACE ·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schedule, parent inbox, and threads with admin.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502920" y="1627632"/>
            <a:ext cx="557784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coach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1554480"/>
            <a:ext cx="557784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6309360" y="1627632"/>
            <a:ext cx="557784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7" name="Image 1" descr="/Users/aadityanilesiphone/Documents/GitHub/demo/SFM/pptx-build/screenshots/coach-comm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63640" y="1554480"/>
            <a:ext cx="5577840" cy="475488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45720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Schedule · my sessions vs. co-coach's · cancel + reschedule</a:t>
            </a:r>
            <a:endParaRPr lang="en-US" sz="1100" dirty="0"/>
          </a:p>
        </p:txBody>
      </p:sp>
      <p:sp>
        <p:nvSpPr>
          <p:cNvPr id="9" name="Text 5"/>
          <p:cNvSpPr/>
          <p:nvPr/>
        </p:nvSpPr>
        <p:spPr>
          <a:xfrm>
            <a:off x="6263640" y="6355080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Messages · parent inbox · DM with Eileen (Admin)</a:t>
            </a:r>
            <a:endParaRPr lang="en-US" sz="1100" dirty="0"/>
          </a:p>
        </p:txBody>
      </p:sp>
      <p:sp>
        <p:nvSpPr>
          <p:cNvPr id="10" name="Text 6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1" name="Text 7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/ 17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· 1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families like Kelly's — 3 daughters, 3 different teams.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960120" y="1627632"/>
            <a:ext cx="2743200" cy="47548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parent-ho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554480"/>
            <a:ext cx="2743200" cy="4754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4206240" y="1554480"/>
            <a:ext cx="7589520" cy="475488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480560" y="1783080"/>
            <a:ext cx="7040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LOGIN. ONE UNIFIED SCHEDULE. ONE BILL.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480560" y="2103120"/>
            <a:ext cx="7040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parents can manage</a:t>
            </a:r>
            <a:endParaRPr lang="en-US" sz="1800" dirty="0"/>
          </a:p>
        </p:txBody>
      </p:sp>
      <p:sp>
        <p:nvSpPr>
          <p:cNvPr id="9" name="Text 6"/>
          <p:cNvSpPr/>
          <p:nvPr/>
        </p:nvSpPr>
        <p:spPr>
          <a:xfrm>
            <a:off x="448056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dashboard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448056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children on the home screen · countdown to the next practice.</a:t>
            </a:r>
            <a:endParaRPr lang="en-US" sz="1050" dirty="0"/>
          </a:p>
        </p:txBody>
      </p:sp>
      <p:sp>
        <p:nvSpPr>
          <p:cNvPr id="11" name="Text 8"/>
          <p:cNvSpPr/>
          <p:nvPr/>
        </p:nvSpPr>
        <p:spPr>
          <a:xfrm>
            <a:off x="8138160" y="269748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Combined schedule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8138160" y="297180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→ Sun across all teams · same-pool pickup tips.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448056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One-tap absence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448056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Replaces the Signal message · coach notified instantly + auto-logged.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8138160" y="374904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Per-child billing</a:t>
            </a:r>
            <a:endParaRPr lang="en-US" sz="1300" dirty="0"/>
          </a:p>
        </p:txBody>
      </p:sp>
      <p:sp>
        <p:nvSpPr>
          <p:cNvPr id="16" name="Text 13"/>
          <p:cNvSpPr/>
          <p:nvPr/>
        </p:nvSpPr>
        <p:spPr>
          <a:xfrm>
            <a:off x="8138160" y="402336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family invoice rolling up Brianne · Janelle · Syleste.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4480560" y="4800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 video library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4480560" y="5074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assignments + USAAS link · watch on phone.</a:t>
            </a:r>
            <a:endParaRPr lang="en-US" sz="1050" dirty="0"/>
          </a:p>
        </p:txBody>
      </p:sp>
      <p:sp>
        <p:nvSpPr>
          <p:cNvPr id="19" name="Text 16"/>
          <p:cNvSpPr/>
          <p:nvPr/>
        </p:nvSpPr>
        <p:spPr>
          <a:xfrm>
            <a:off x="8138160" y="480060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shop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8138160" y="5074920"/>
            <a:ext cx="33832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suits, jackets, caps · pickup at next practice.</a:t>
            </a:r>
            <a:endParaRPr lang="en-US" sz="1050" dirty="0"/>
          </a:p>
        </p:txBody>
      </p:sp>
      <p:sp>
        <p:nvSpPr>
          <p:cNvPr id="21" name="Text 18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 / 17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· 2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Drill into any practice · message any coach · see every child.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859536" y="1627632"/>
            <a:ext cx="2331720" cy="402336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parent-schedu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13816" y="1554480"/>
            <a:ext cx="2331720" cy="40233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13816" y="5669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Family schedule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 → Sun · all children · filterable</a:t>
            </a:r>
            <a:endParaRPr lang="en-US" sz="1050" dirty="0"/>
          </a:p>
        </p:txBody>
      </p:sp>
      <p:sp>
        <p:nvSpPr>
          <p:cNvPr id="7" name="Shape 4"/>
          <p:cNvSpPr/>
          <p:nvPr/>
        </p:nvSpPr>
        <p:spPr>
          <a:xfrm>
            <a:off x="3602736" y="1627632"/>
            <a:ext cx="2331720" cy="402336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8" name="Image 1" descr="/Users/aadityanilesiphone/Documents/GitHub/demo/SFM/pptx-build/screenshots/parent-practic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57016" y="1554480"/>
            <a:ext cx="2331720" cy="402336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557016" y="5669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Practice detail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bring · per-class messages</a:t>
            </a:r>
            <a:endParaRPr lang="en-US" sz="1050" dirty="0"/>
          </a:p>
        </p:txBody>
      </p:sp>
      <p:sp>
        <p:nvSpPr>
          <p:cNvPr id="10" name="Shape 6"/>
          <p:cNvSpPr/>
          <p:nvPr/>
        </p:nvSpPr>
        <p:spPr>
          <a:xfrm>
            <a:off x="6345936" y="1627632"/>
            <a:ext cx="2331720" cy="402336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11" name="Image 2" descr="/Users/aadityanilesiphone/Documents/GitHub/demo/SFM/pptx-build/screenshots/parent-child-janell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0216" y="1554480"/>
            <a:ext cx="2331720" cy="402336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6300216" y="5669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Child profile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Attendance · skills · billing · messages</a:t>
            </a:r>
            <a:endParaRPr lang="en-US" sz="1050" dirty="0"/>
          </a:p>
        </p:txBody>
      </p:sp>
      <p:sp>
        <p:nvSpPr>
          <p:cNvPr id="13" name="Shape 8"/>
          <p:cNvSpPr/>
          <p:nvPr/>
        </p:nvSpPr>
        <p:spPr>
          <a:xfrm>
            <a:off x="9089136" y="1627632"/>
            <a:ext cx="2331720" cy="402336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14" name="Image 3" descr="/Users/aadityanilesiphone/Documents/GitHub/demo/SFM/pptx-build/screenshots/parent-absenc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43416" y="1554480"/>
            <a:ext cx="2331720" cy="4023360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9043416" y="5669280"/>
            <a:ext cx="2331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 absent</a:t>
            </a:r>
            <a:endParaRPr lang="en-US" sz="1050" dirty="0"/>
          </a:p>
          <a:p>
            <a:pPr algn="ctr"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Reason · note · coach notified instantly</a:t>
            </a:r>
            <a:endParaRPr lang="en-US" sz="1050" dirty="0"/>
          </a:p>
        </p:txBody>
      </p:sp>
      <p:sp>
        <p:nvSpPr>
          <p:cNvPr id="16" name="Text 1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17" name="Text 11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/ 17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 PORTAL · 3 OF 3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Billing — friendly email + one-tap portal payment.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11480" y="1536192"/>
            <a:ext cx="4206240" cy="4983480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5" name="Image 0" descr="/Users/aadityanilesiphone/Documents/GitHub/demo/SFM/pptx-build/screenshots/billing-email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65760" y="1463040"/>
            <a:ext cx="4206240" cy="498348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6446520"/>
            <a:ext cx="4206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billing email · auto-sent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 rot="1800000">
            <a:off x="4800600" y="3703320"/>
            <a:ext cx="640080" cy="502920"/>
          </a:xfrm>
          <a:prstGeom prst="rtTriangle">
            <a:avLst/>
          </a:prstGeom>
          <a:solidFill>
            <a:srgbClr val="06B6D4"/>
          </a:solidFill>
          <a:ln/>
        </p:spPr>
      </p:sp>
      <p:sp>
        <p:nvSpPr>
          <p:cNvPr id="8" name="Text 5"/>
          <p:cNvSpPr/>
          <p:nvPr/>
        </p:nvSpPr>
        <p:spPr>
          <a:xfrm>
            <a:off x="4709160" y="3154680"/>
            <a:ext cx="822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b="1" spc="4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5669280" y="1764792"/>
            <a:ext cx="2286000" cy="3959352"/>
          </a:xfrm>
          <a:prstGeom prst="rect">
            <a:avLst/>
          </a:prstGeom>
          <a:solidFill>
            <a:srgbClr val="0F172A">
              <a:alpha val="30000"/>
            </a:srgbClr>
          </a:solidFill>
          <a:ln/>
        </p:spPr>
      </p:sp>
      <p:pic>
        <p:nvPicPr>
          <p:cNvPr id="10" name="Image 1" descr="/Users/aadityanilesiphone/Documents/GitHub/demo/SFM/pptx-build/screenshots/parent-pay-sectional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623560" y="1691640"/>
            <a:ext cx="2286000" cy="395935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623560" y="571500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payment screen</a:t>
            </a:r>
            <a:endParaRPr lang="en-US" sz="1000" dirty="0"/>
          </a:p>
        </p:txBody>
      </p:sp>
      <p:sp>
        <p:nvSpPr>
          <p:cNvPr id="12" name="Shape 8"/>
          <p:cNvSpPr/>
          <p:nvPr/>
        </p:nvSpPr>
        <p:spPr>
          <a:xfrm>
            <a:off x="8092440" y="1554480"/>
            <a:ext cx="3657600" cy="49377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8321040" y="175564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BILLING WORKS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8321040" y="21488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Friendly email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8321040" y="2423160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Parents receive a clear, branded email with the bill broken down by child.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8321040" y="2962656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One-tap pay</a:t>
            </a:r>
            <a:endParaRPr lang="en-US" sz="1300" dirty="0"/>
          </a:p>
        </p:txBody>
      </p:sp>
      <p:sp>
        <p:nvSpPr>
          <p:cNvPr id="17" name="Text 13"/>
          <p:cNvSpPr/>
          <p:nvPr/>
        </p:nvSpPr>
        <p:spPr>
          <a:xfrm>
            <a:off x="8321040" y="3236976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"Pay Now" button takes them straight to the Parent Portal · pre-filled.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8321040" y="3776472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Or pay anytime</a:t>
            </a:r>
            <a:endParaRPr lang="en-US" sz="1300" dirty="0"/>
          </a:p>
        </p:txBody>
      </p:sp>
      <p:sp>
        <p:nvSpPr>
          <p:cNvPr id="19" name="Text 15"/>
          <p:cNvSpPr/>
          <p:nvPr/>
        </p:nvSpPr>
        <p:spPr>
          <a:xfrm>
            <a:off x="8321040" y="4050792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view is also accessible directly on their phone — Billing tab.</a:t>
            </a:r>
            <a:endParaRPr lang="en-US" sz="1050" dirty="0"/>
          </a:p>
        </p:txBody>
      </p:sp>
      <p:sp>
        <p:nvSpPr>
          <p:cNvPr id="20" name="Text 16"/>
          <p:cNvSpPr/>
          <p:nvPr/>
        </p:nvSpPr>
        <p:spPr>
          <a:xfrm>
            <a:off x="8321040" y="4590288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Auto-pay default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8321040" y="4864608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Card on file auto-charges on the 1st — no action needed each month.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8321040" y="5404104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Receipts emailed</a:t>
            </a:r>
            <a:endParaRPr lang="en-US" sz="1300" dirty="0"/>
          </a:p>
        </p:txBody>
      </p:sp>
      <p:sp>
        <p:nvSpPr>
          <p:cNvPr id="23" name="Text 19"/>
          <p:cNvSpPr/>
          <p:nvPr/>
        </p:nvSpPr>
        <p:spPr>
          <a:xfrm>
            <a:off x="8321040" y="5678424"/>
            <a:ext cx="320040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successful charge — itemized PDF + confirmation ID.</a:t>
            </a:r>
            <a:endParaRPr lang="en-US" sz="1050" dirty="0"/>
          </a:p>
        </p:txBody>
      </p:sp>
      <p:sp>
        <p:nvSpPr>
          <p:cNvPr id="24" name="Text 20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25" name="Text 21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 / 17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B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FOR YOU · OWNED BY YOU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yours, end to end.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417320"/>
            <a:ext cx="112471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proprietary system built specifically for SFM — and handed over completely on launch day. No subscription. No per-user fees. No revenue share. Ever.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452628" y="2286000"/>
            <a:ext cx="26974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2628" y="2286000"/>
            <a:ext cx="26974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7" name="Text 5"/>
          <p:cNvSpPr/>
          <p:nvPr/>
        </p:nvSpPr>
        <p:spPr>
          <a:xfrm>
            <a:off x="635508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TAILORED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635508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around SFM's workflow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35508" y="36576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Designed from scratch using your real team names, levels, schedules, coaches, and competition fee structure. Not a generic template adapted with workarounds.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4700" y="2286000"/>
            <a:ext cx="26974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314700" y="2286000"/>
            <a:ext cx="26974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3497580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REVENUE SHARE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3497580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ongoing platform fees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3497580" y="36576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handover, the platform costs you nothing to run beyond standard cloud hosting (~$15/mo, your account) and Stripe's 1–2% gateway. We take no cut of dues or competition fees.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176772" y="2286000"/>
            <a:ext cx="26974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176772" y="2286000"/>
            <a:ext cx="26974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7" name="Text 15"/>
          <p:cNvSpPr/>
          <p:nvPr/>
        </p:nvSpPr>
        <p:spPr>
          <a:xfrm>
            <a:off x="6359652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OWNERSHIP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6359652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code &amp; data are yours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359652" y="36576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launch day the complete codebase, database, deployment scripts, and brand assets are transferred to SFM. We retain nothing. You own every file.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9038844" y="2286000"/>
            <a:ext cx="2697480" cy="393192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9038844" y="2286000"/>
            <a:ext cx="269748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9221724" y="2487168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LOCK-IN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9221724" y="2788920"/>
            <a:ext cx="23317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developer can maintain it</a:t>
            </a:r>
            <a:endParaRPr lang="en-US" sz="1600" dirty="0"/>
          </a:p>
        </p:txBody>
      </p:sp>
      <p:sp>
        <p:nvSpPr>
          <p:cNvPr id="24" name="Text 22"/>
          <p:cNvSpPr/>
          <p:nvPr/>
        </p:nvSpPr>
        <p:spPr>
          <a:xfrm>
            <a:off x="9221724" y="3657600"/>
            <a:ext cx="2331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open-source standards (HTML · CSS · JavaScript · Node · PostgreSQL). Any developer who codes can read it, modify it, or host it elsewhere — without us.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/ 17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OVERVIEW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One-time. Staggered. No surprises.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5669280" cy="4572000"/>
          </a:xfrm>
          <a:prstGeom prst="rect">
            <a:avLst/>
          </a:prstGeom>
          <a:solidFill>
            <a:srgbClr val="1B3A8C"/>
          </a:solidFill>
          <a:ln w="19050">
            <a:solidFill>
              <a:srgbClr val="1B3A8C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40080" y="187452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8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INVESTMENT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640080" y="2286000"/>
            <a:ext cx="530352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$10,000 – $12,000</a:t>
            </a:r>
            <a:endParaRPr lang="en-US" sz="5200" dirty="0"/>
          </a:p>
        </p:txBody>
      </p:sp>
      <p:sp>
        <p:nvSpPr>
          <p:cNvPr id="7" name="Text 5"/>
          <p:cNvSpPr/>
          <p:nvPr/>
        </p:nvSpPr>
        <p:spPr>
          <a:xfrm>
            <a:off x="640080" y="3749040"/>
            <a:ext cx="5303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One-time. Final figure depends on scope-of-work confirmation.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40080" y="4297680"/>
            <a:ext cx="5303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WHAT'S INCLUDED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4617720"/>
            <a:ext cx="521208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role interfaces — Admin · Coach · Parent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Stripe + Twilio integrations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setup on your cloud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source code + brand handover</a:t>
            </a:r>
            <a:endParaRPr lang="en-US" sz="1100" dirty="0"/>
          </a:p>
          <a:p>
            <a:pPr marL="342900" indent="-342900">
              <a:spcAft>
                <a:spcPts val="400"/>
              </a:spcAft>
              <a:buSzPct val="100000"/>
              <a:buChar char="✓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3-month build · 60-day post-launch support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691640"/>
            <a:ext cx="5349240" cy="45720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83680" y="187452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STAGGERED PAYMENT SCHEDULE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583680" y="224028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Four payments over the 3-month build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629400" y="283464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4" name="Text 12"/>
          <p:cNvSpPr/>
          <p:nvPr/>
        </p:nvSpPr>
        <p:spPr>
          <a:xfrm>
            <a:off x="6629400" y="28346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269480" y="278892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Deposit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7269480" y="309981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kickoff · scope locked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629400" y="361188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6629400" y="3611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269480" y="356616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1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7269480" y="387705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+ Admin Console core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6629400" y="438912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2" name="Text 20"/>
          <p:cNvSpPr/>
          <p:nvPr/>
        </p:nvSpPr>
        <p:spPr>
          <a:xfrm>
            <a:off x="6629400" y="43891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7269480" y="434340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2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269480" y="465429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Coach + Parent Portal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6629400" y="5166360"/>
            <a:ext cx="502920" cy="50292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6" name="Text 24"/>
          <p:cNvSpPr/>
          <p:nvPr/>
        </p:nvSpPr>
        <p:spPr>
          <a:xfrm>
            <a:off x="6629400" y="51663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25%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269480" y="5120640"/>
            <a:ext cx="42976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 3 · Launch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7269480" y="5431536"/>
            <a:ext cx="4297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delivery + handover + training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/ 17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B1A4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US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— 15 years building software.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457200" y="1691640"/>
            <a:ext cx="6400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development partner you can rely on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457200" y="2148840"/>
            <a:ext cx="64008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 in 2011 by an ex-Oracle Senior Director, Nile started as an enterprise Oracle implementation partner. In 2016 we expanded into custom web &amp; mobile development for small and mid-sized businesses worldwide. Today we're a 100-person team based in New Delhi — with the same founder-led care we started with.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57200" y="4297680"/>
            <a:ext cx="1463040" cy="1371600"/>
          </a:xfrm>
          <a:prstGeom prst="rect">
            <a:avLst/>
          </a:prstGeom>
          <a:solidFill>
            <a:srgbClr val="163578"/>
          </a:solidFill>
          <a:ln w="9525">
            <a:solidFill>
              <a:srgbClr val="2C53B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21792" y="4462272"/>
            <a:ext cx="1133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2011</a:t>
            </a:r>
            <a:endParaRPr lang="en-US" sz="3000" dirty="0"/>
          </a:p>
        </p:txBody>
      </p:sp>
      <p:sp>
        <p:nvSpPr>
          <p:cNvPr id="8" name="Text 6"/>
          <p:cNvSpPr/>
          <p:nvPr/>
        </p:nvSpPr>
        <p:spPr>
          <a:xfrm>
            <a:off x="621792" y="5148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Founded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057400" y="4297680"/>
            <a:ext cx="1463040" cy="1371600"/>
          </a:xfrm>
          <a:prstGeom prst="rect">
            <a:avLst/>
          </a:prstGeom>
          <a:solidFill>
            <a:srgbClr val="163578"/>
          </a:solidFill>
          <a:ln w="9525">
            <a:solidFill>
              <a:srgbClr val="2C53B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221992" y="4462272"/>
            <a:ext cx="1133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100+</a:t>
            </a:r>
            <a:endParaRPr lang="en-US" sz="3000" dirty="0"/>
          </a:p>
        </p:txBody>
      </p:sp>
      <p:sp>
        <p:nvSpPr>
          <p:cNvPr id="11" name="Text 9"/>
          <p:cNvSpPr/>
          <p:nvPr/>
        </p:nvSpPr>
        <p:spPr>
          <a:xfrm>
            <a:off x="2221992" y="5148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in Delhi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657600" y="4297680"/>
            <a:ext cx="1463040" cy="1371600"/>
          </a:xfrm>
          <a:prstGeom prst="rect">
            <a:avLst/>
          </a:prstGeom>
          <a:solidFill>
            <a:srgbClr val="163578"/>
          </a:solidFill>
          <a:ln w="9525">
            <a:solidFill>
              <a:srgbClr val="2C53B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822192" y="4462272"/>
            <a:ext cx="1133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yrs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3822192" y="5148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Software dev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5257800" y="4297680"/>
            <a:ext cx="1463040" cy="1371600"/>
          </a:xfrm>
          <a:prstGeom prst="rect">
            <a:avLst/>
          </a:prstGeom>
          <a:solidFill>
            <a:srgbClr val="163578"/>
          </a:solidFill>
          <a:ln w="9525">
            <a:solidFill>
              <a:srgbClr val="2C53B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422392" y="4462272"/>
            <a:ext cx="1133856" cy="7543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3000" dirty="0"/>
          </a:p>
        </p:txBody>
      </p:sp>
      <p:sp>
        <p:nvSpPr>
          <p:cNvPr id="17" name="Text 15"/>
          <p:cNvSpPr/>
          <p:nvPr/>
        </p:nvSpPr>
        <p:spPr>
          <a:xfrm>
            <a:off x="5422392" y="5148072"/>
            <a:ext cx="113385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domains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7315200" y="1691640"/>
            <a:ext cx="4434840" cy="4572000"/>
          </a:xfrm>
          <a:prstGeom prst="rect">
            <a:avLst/>
          </a:prstGeom>
          <a:solidFill>
            <a:srgbClr val="FFFFFF">
              <a:alpha val="8000"/>
            </a:srgbClr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43800" y="1828800"/>
            <a:ext cx="4114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PRACTICE AREAS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7543800" y="233172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1" name="Text 19"/>
          <p:cNvSpPr/>
          <p:nvPr/>
        </p:nvSpPr>
        <p:spPr>
          <a:xfrm>
            <a:off x="7543800" y="23317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8092440" y="228600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8092440" y="261518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Oracle implementation for large corporates (our origin practice).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7543800" y="361188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5" name="Text 23"/>
          <p:cNvSpPr/>
          <p:nvPr/>
        </p:nvSpPr>
        <p:spPr>
          <a:xfrm>
            <a:off x="7543800" y="361188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092440" y="356616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&amp; Mobile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8092440" y="389534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apps for SMBs, NGOs, startups — SFM falls here.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7543800" y="4892040"/>
            <a:ext cx="411480" cy="411480"/>
          </a:xfrm>
          <a:prstGeom prst="ellipse">
            <a:avLst/>
          </a:prstGeom>
          <a:solidFill>
            <a:srgbClr val="06B6D4"/>
          </a:solidFill>
          <a:ln/>
        </p:spPr>
      </p:sp>
      <p:sp>
        <p:nvSpPr>
          <p:cNvPr id="29" name="Text 27"/>
          <p:cNvSpPr/>
          <p:nvPr/>
        </p:nvSpPr>
        <p:spPr>
          <a:xfrm>
            <a:off x="7543800" y="48920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0" name="Text 28"/>
          <p:cNvSpPr/>
          <p:nvPr/>
        </p:nvSpPr>
        <p:spPr>
          <a:xfrm>
            <a:off x="8092440" y="4846320"/>
            <a:ext cx="3520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8092440" y="5175504"/>
            <a:ext cx="3520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E8EEF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 AI agents, chatbots, and assistants for businesses.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457200" y="5943600"/>
            <a:ext cx="11247120" cy="0"/>
          </a:xfrm>
          <a:prstGeom prst="line">
            <a:avLst/>
          </a:prstGeom>
          <a:noFill/>
          <a:ln w="12700">
            <a:solidFill>
              <a:srgbClr val="06B6D4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57200" y="6080760"/>
            <a:ext cx="11247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niletechnologies.com</a:t>
            </a:r>
            <a:endParaRPr lang="en-US" sz="1300" dirty="0"/>
          </a:p>
        </p:txBody>
      </p:sp>
      <p:sp>
        <p:nvSpPr>
          <p:cNvPr id="34" name="Text 32"/>
          <p:cNvSpPr/>
          <p:nvPr/>
        </p:nvSpPr>
        <p:spPr>
          <a:xfrm>
            <a:off x="457200" y="649224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Nile Technologies  ·  SF Merionettes Operations System  ·  May 2026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10972800" y="6492240"/>
            <a:ext cx="758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 / 17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4F7F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92608"/>
            <a:ext cx="11247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RELEVANT EXPERIENCE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457200" y="566928"/>
            <a:ext cx="11247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We've built systems just like this — for clubs and schools.</a:t>
            </a:r>
            <a:endParaRPr lang="en-US" sz="3600" dirty="0"/>
          </a:p>
        </p:txBody>
      </p:sp>
      <p:sp>
        <p:nvSpPr>
          <p:cNvPr id="4" name="Shape 2"/>
          <p:cNvSpPr/>
          <p:nvPr/>
        </p:nvSpPr>
        <p:spPr>
          <a:xfrm>
            <a:off x="457200" y="169164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691640"/>
            <a:ext cx="37033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6" name="Text 4"/>
          <p:cNvSpPr/>
          <p:nvPr/>
        </p:nvSpPr>
        <p:spPr>
          <a:xfrm>
            <a:off x="685800" y="1828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YOUTH SPORTS · MARTIAL ARTS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85800" y="21214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Shaolin Kung Fu Institute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85800" y="2542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students · 5 locations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685800" y="28803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Multi-tier admin (master + per-location) · attendance · billing · skill tracking · parent portal. Closest to SFM in workflow.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297680" y="169164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297680" y="1691640"/>
            <a:ext cx="37033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2" name="Text 10"/>
          <p:cNvSpPr/>
          <p:nvPr/>
        </p:nvSpPr>
        <p:spPr>
          <a:xfrm>
            <a:off x="4526280" y="1828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APPOINTMENT-BASED FITNESS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4526280" y="21214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Royal Personal Training</a:t>
            </a:r>
            <a:endParaRPr lang="en-US" sz="1700" dirty="0"/>
          </a:p>
        </p:txBody>
      </p:sp>
      <p:sp>
        <p:nvSpPr>
          <p:cNvPr id="14" name="Text 12"/>
          <p:cNvSpPr/>
          <p:nvPr/>
        </p:nvSpPr>
        <p:spPr>
          <a:xfrm>
            <a:off x="4526280" y="2542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Boutique studio · class packs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26280" y="28803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Booking-based ops · client packs of 16/20 classes · POS · CRM with auto-renewal nudges for at-risk clients.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8138160" y="1691640"/>
            <a:ext cx="3703320" cy="320040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138160" y="1691640"/>
            <a:ext cx="3703320" cy="73152"/>
          </a:xfrm>
          <a:prstGeom prst="rect">
            <a:avLst/>
          </a:prstGeom>
          <a:solidFill>
            <a:srgbClr val="06B6D4"/>
          </a:solidFill>
          <a:ln/>
        </p:spPr>
      </p:sp>
      <p:sp>
        <p:nvSpPr>
          <p:cNvPr id="18" name="Text 16"/>
          <p:cNvSpPr/>
          <p:nvPr/>
        </p:nvSpPr>
        <p:spPr>
          <a:xfrm>
            <a:off x="8366760" y="1828800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spc="5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MEMBERSHIP-BASED FITNESS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366760" y="2121408"/>
            <a:ext cx="32461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Member Gym Operations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8366760" y="2542032"/>
            <a:ext cx="3246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B3A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Recurring memberships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366760" y="2880360"/>
            <a:ext cx="324612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Schedules · batches · trainer assignment · POS for plan sales · attendance · inventory for retail merch — same DNA as SFM.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457200" y="5074920"/>
            <a:ext cx="11292840" cy="1097280"/>
          </a:xfrm>
          <a:prstGeom prst="rect">
            <a:avLst/>
          </a:prstGeom>
          <a:solidFill>
            <a:srgbClr val="1B3A8C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51663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600" kern="0" dirty="0">
                <a:solidFill>
                  <a:srgbClr val="06B6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640080" y="5440680"/>
            <a:ext cx="109728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Board approval → signed scope-of-work → 25% deposit → kickoff. Launch in Aug 2026 — ready for the fall season.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457200" y="6355080"/>
            <a:ext cx="11292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47556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Aaditya Kapoor  ·  Sanju Kapoor  ·  niletechnologies.com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</vt:vector>
  </TitlesOfParts>
  <Company>Nile Technologies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SF Merionettes — Operations System Proposal</dc:title>
  <dc:subject>Custom Web Portal Proposal</dc:subject>
  <dc:creator>Nile Technologies</dc:creator>
  <cp:lastModifiedBy>Nile Technologies</cp:lastModifiedBy>
  <cp:revision>1</cp:revision>
  <dcterms:created xsi:type="dcterms:W3CDTF">2026-05-22T06:20:51Z</dcterms:created>
  <dcterms:modified xsi:type="dcterms:W3CDTF">2026-05-22T06:20:51Z</dcterms:modified>
</cp:coreProperties>
</file>