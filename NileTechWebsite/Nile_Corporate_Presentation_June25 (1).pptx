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746" r:id="rId1"/>
  </p:sldMasterIdLst>
  <p:notesMasterIdLst>
    <p:notesMasterId r:id="rId21"/>
  </p:notesMasterIdLst>
  <p:sldIdLst>
    <p:sldId id="256" r:id="rId2"/>
    <p:sldId id="261" r:id="rId3"/>
    <p:sldId id="267" r:id="rId4"/>
    <p:sldId id="306" r:id="rId5"/>
    <p:sldId id="316" r:id="rId6"/>
    <p:sldId id="317" r:id="rId7"/>
    <p:sldId id="318" r:id="rId8"/>
    <p:sldId id="297" r:id="rId9"/>
    <p:sldId id="298" r:id="rId10"/>
    <p:sldId id="305" r:id="rId11"/>
    <p:sldId id="313" r:id="rId12"/>
    <p:sldId id="314" r:id="rId13"/>
    <p:sldId id="308" r:id="rId14"/>
    <p:sldId id="309" r:id="rId15"/>
    <p:sldId id="299" r:id="rId16"/>
    <p:sldId id="301" r:id="rId17"/>
    <p:sldId id="275" r:id="rId18"/>
    <p:sldId id="311" r:id="rId19"/>
    <p:sldId id="307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600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8E7EF0-30BA-47A9-9E73-536E6FB35545}">
  <a:tblStyle styleId="{918E7EF0-30BA-47A9-9E73-536E6FB355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FAFD12A-2A65-4255-B111-476A2ECDBF9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1"/>
    <p:restoredTop sz="93082"/>
  </p:normalViewPr>
  <p:slideViewPr>
    <p:cSldViewPr snapToGrid="0" snapToObjects="1">
      <p:cViewPr varScale="1">
        <p:scale>
          <a:sx n="147" d="100"/>
          <a:sy n="147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F870EC-9B28-46CA-B88C-E4C991C89432}" type="doc">
      <dgm:prSet loTypeId="urn:microsoft.com/office/officeart/2005/8/layout/hierarchy3" loCatId="hierarchy" qsTypeId="urn:microsoft.com/office/officeart/2005/8/quickstyle/simple1#2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B8E77357-C17C-4567-995B-CE0621597CB1}">
      <dgm:prSet custT="1"/>
      <dgm:spPr>
        <a:solidFill>
          <a:schemeClr val="accent1"/>
        </a:solidFill>
      </dgm:spPr>
      <dgm:t>
        <a:bodyPr/>
        <a:lstStyle/>
        <a:p>
          <a:pPr algn="ctr"/>
          <a:r>
            <a:rPr lang="en-US" sz="1400" b="1" dirty="0">
              <a:latin typeface="Calibri" panose="020F0502020204030204" pitchFamily="34" charset="0"/>
              <a:cs typeface="Calibri" panose="020F0502020204030204" pitchFamily="34" charset="0"/>
            </a:rPr>
            <a:t>Objective</a:t>
          </a:r>
          <a:r>
            <a:rPr lang="en-US" sz="1200" b="1" dirty="0">
              <a:latin typeface="Calibri" panose="020F0502020204030204" pitchFamily="34" charset="0"/>
              <a:cs typeface="Calibri" panose="020F0502020204030204" pitchFamily="34" charset="0"/>
            </a:rPr>
            <a:t>:</a:t>
          </a:r>
        </a:p>
        <a:p>
          <a:pPr algn="ctr"/>
          <a:r>
            <a:rPr lang="en-US" sz="1200" b="1" dirty="0">
              <a:latin typeface="Calibri" panose="020F0502020204030204" pitchFamily="34" charset="0"/>
              <a:cs typeface="Calibri" panose="020F0502020204030204" pitchFamily="34" charset="0"/>
            </a:rPr>
            <a:t>Integrate legacy applications using Oracle SOA Suite and deliver a unified user experience across enterprise systems</a:t>
          </a:r>
          <a:r>
            <a:rPr lang="en-US" sz="1400" dirty="0">
              <a:latin typeface="Calibri" panose="020F0502020204030204" pitchFamily="34" charset="0"/>
              <a:cs typeface="Calibri" panose="020F0502020204030204" pitchFamily="34" charset="0"/>
            </a:rPr>
            <a:t>.</a:t>
          </a:r>
        </a:p>
      </dgm:t>
    </dgm:pt>
    <dgm:pt modelId="{2994745C-B397-4E67-ACAB-78DBC93625C0}" type="parTrans" cxnId="{5F11D02E-821C-4E80-85BA-FEE7A6F0C64A}">
      <dgm:prSet/>
      <dgm:spPr/>
      <dgm:t>
        <a:bodyPr/>
        <a:lstStyle/>
        <a:p>
          <a:endParaRPr lang="en-US"/>
        </a:p>
      </dgm:t>
    </dgm:pt>
    <dgm:pt modelId="{EA01230C-FDD7-4C51-A207-41136E3F74A7}" type="sibTrans" cxnId="{5F11D02E-821C-4E80-85BA-FEE7A6F0C64A}">
      <dgm:prSet/>
      <dgm:spPr/>
      <dgm:t>
        <a:bodyPr/>
        <a:lstStyle/>
        <a:p>
          <a:endParaRPr lang="en-US"/>
        </a:p>
      </dgm:t>
    </dgm:pt>
    <dgm:pt modelId="{E5BC8805-1BC7-4E83-9E0E-AD99BFD43471}">
      <dgm:prSet/>
      <dgm:spPr>
        <a:solidFill>
          <a:srgbClr val="D4B8AC"/>
        </a:solidFill>
      </dgm:spPr>
      <dgm:t>
        <a:bodyPr/>
        <a:lstStyle/>
        <a:p>
          <a:r>
            <a:rPr lang="en-US" dirty="0"/>
            <a:t>SOA Integration Layer</a:t>
          </a:r>
        </a:p>
      </dgm:t>
    </dgm:pt>
    <dgm:pt modelId="{2EC63855-016F-492E-A129-7CE299943F32}" type="parTrans" cxnId="{E94782C6-31CD-46DE-BAFC-67615861E6AD}">
      <dgm:prSet/>
      <dgm:spPr/>
      <dgm:t>
        <a:bodyPr/>
        <a:lstStyle/>
        <a:p>
          <a:endParaRPr lang="en-US"/>
        </a:p>
      </dgm:t>
    </dgm:pt>
    <dgm:pt modelId="{5EFB93BA-DD74-475E-8167-A8273DE8A846}" type="sibTrans" cxnId="{E94782C6-31CD-46DE-BAFC-67615861E6AD}">
      <dgm:prSet/>
      <dgm:spPr/>
      <dgm:t>
        <a:bodyPr/>
        <a:lstStyle/>
        <a:p>
          <a:endParaRPr lang="en-US"/>
        </a:p>
      </dgm:t>
    </dgm:pt>
    <dgm:pt modelId="{D7B6BE01-9455-46BC-8519-A740D183C0CD}">
      <dgm:prSet custT="1"/>
      <dgm:spPr/>
      <dgm:t>
        <a:bodyPr/>
        <a:lstStyle/>
        <a:p>
          <a:r>
            <a:rPr lang="en-US" sz="900" dirty="0">
              <a:latin typeface="Calibri" panose="020F0502020204030204" pitchFamily="34" charset="0"/>
              <a:cs typeface="Calibri" panose="020F0502020204030204" pitchFamily="34" charset="0"/>
            </a:rPr>
            <a:t>BPEL orchestrations for CRM, MDM, and EA systems.</a:t>
          </a:r>
        </a:p>
      </dgm:t>
    </dgm:pt>
    <dgm:pt modelId="{AC54D4E2-45B5-497D-B32C-057BAAD3357D}" type="parTrans" cxnId="{BC5B2646-089B-47CA-9C00-19401AAA1240}">
      <dgm:prSet/>
      <dgm:spPr/>
      <dgm:t>
        <a:bodyPr/>
        <a:lstStyle/>
        <a:p>
          <a:endParaRPr lang="en-US"/>
        </a:p>
      </dgm:t>
    </dgm:pt>
    <dgm:pt modelId="{D354F0EB-AA91-450B-96F3-DF9060F185C9}" type="sibTrans" cxnId="{BC5B2646-089B-47CA-9C00-19401AAA1240}">
      <dgm:prSet/>
      <dgm:spPr/>
      <dgm:t>
        <a:bodyPr/>
        <a:lstStyle/>
        <a:p>
          <a:endParaRPr lang="en-US"/>
        </a:p>
      </dgm:t>
    </dgm:pt>
    <dgm:pt modelId="{547F5BAC-5FAB-422E-A5A4-69D29ECC8902}">
      <dgm:prSet/>
      <dgm:spPr>
        <a:solidFill>
          <a:srgbClr val="CA7502"/>
        </a:solidFill>
      </dgm:spPr>
      <dgm:t>
        <a:bodyPr/>
        <a:lstStyle/>
        <a:p>
          <a:r>
            <a:rPr lang="en-US"/>
            <a:t>Unified Interface</a:t>
          </a:r>
        </a:p>
      </dgm:t>
    </dgm:pt>
    <dgm:pt modelId="{E38A15D3-4906-4A9B-8376-D3C3A21059F0}" type="parTrans" cxnId="{FA68F412-743F-4169-A2D0-A905DDC8C836}">
      <dgm:prSet/>
      <dgm:spPr/>
      <dgm:t>
        <a:bodyPr/>
        <a:lstStyle/>
        <a:p>
          <a:endParaRPr lang="en-US"/>
        </a:p>
      </dgm:t>
    </dgm:pt>
    <dgm:pt modelId="{F746953B-E92B-42A9-9402-9548A4CA92BA}" type="sibTrans" cxnId="{FA68F412-743F-4169-A2D0-A905DDC8C836}">
      <dgm:prSet/>
      <dgm:spPr/>
      <dgm:t>
        <a:bodyPr/>
        <a:lstStyle/>
        <a:p>
          <a:endParaRPr lang="en-US"/>
        </a:p>
      </dgm:t>
    </dgm:pt>
    <dgm:pt modelId="{2FA8B888-6CA8-44FC-A745-754184F59DE2}">
      <dgm:prSet custT="1"/>
      <dgm:spPr/>
      <dgm:t>
        <a:bodyPr/>
        <a:lstStyle/>
        <a:p>
          <a:r>
            <a:rPr lang="en-US" sz="900" dirty="0">
              <a:latin typeface="Calibri" panose="020F0502020204030204" pitchFamily="34" charset="0"/>
              <a:cs typeface="Calibri" panose="020F0502020204030204" pitchFamily="34" charset="0"/>
            </a:rPr>
            <a:t>Single WebLogic Portal UI for all legacy applications with SSO via CA SiteMinder.</a:t>
          </a:r>
        </a:p>
      </dgm:t>
    </dgm:pt>
    <dgm:pt modelId="{861B36E6-8167-43F1-B168-6E1544661508}" type="parTrans" cxnId="{BBF72EB7-E0FE-4EB3-8848-225EB6D17892}">
      <dgm:prSet/>
      <dgm:spPr/>
      <dgm:t>
        <a:bodyPr/>
        <a:lstStyle/>
        <a:p>
          <a:endParaRPr lang="en-US"/>
        </a:p>
      </dgm:t>
    </dgm:pt>
    <dgm:pt modelId="{5007A887-124F-4BBC-AABC-2A6F89D628EA}" type="sibTrans" cxnId="{BBF72EB7-E0FE-4EB3-8848-225EB6D17892}">
      <dgm:prSet/>
      <dgm:spPr/>
      <dgm:t>
        <a:bodyPr/>
        <a:lstStyle/>
        <a:p>
          <a:endParaRPr lang="en-US"/>
        </a:p>
      </dgm:t>
    </dgm:pt>
    <dgm:pt modelId="{260A43BF-F1E4-4A63-B8A6-3B583D43C03A}">
      <dgm:prSet/>
      <dgm:spPr>
        <a:solidFill>
          <a:srgbClr val="D4B8AC"/>
        </a:solidFill>
      </dgm:spPr>
      <dgm:t>
        <a:bodyPr/>
        <a:lstStyle/>
        <a:p>
          <a:r>
            <a:rPr lang="en-US" dirty="0"/>
            <a:t>Document Management</a:t>
          </a:r>
        </a:p>
      </dgm:t>
    </dgm:pt>
    <dgm:pt modelId="{8F86C385-92FC-4055-825B-E39FBFBE208E}" type="parTrans" cxnId="{B232F8E7-7CF2-43A5-9A5D-8E18B8B0000A}">
      <dgm:prSet/>
      <dgm:spPr/>
      <dgm:t>
        <a:bodyPr/>
        <a:lstStyle/>
        <a:p>
          <a:endParaRPr lang="en-US"/>
        </a:p>
      </dgm:t>
    </dgm:pt>
    <dgm:pt modelId="{BE0DC1FF-AAAF-4BBD-A140-66FF719CAE1E}" type="sibTrans" cxnId="{B232F8E7-7CF2-43A5-9A5D-8E18B8B0000A}">
      <dgm:prSet/>
      <dgm:spPr/>
      <dgm:t>
        <a:bodyPr/>
        <a:lstStyle/>
        <a:p>
          <a:endParaRPr lang="en-US"/>
        </a:p>
      </dgm:t>
    </dgm:pt>
    <dgm:pt modelId="{7D15414E-B3FA-4DC4-A5BE-69D2FB9E53E6}">
      <dgm:prSet custT="1"/>
      <dgm:spPr/>
      <dgm:t>
        <a:bodyPr/>
        <a:lstStyle/>
        <a:p>
          <a:r>
            <a:rPr lang="en-US" sz="900" dirty="0">
              <a:latin typeface="Calibri" panose="020F0502020204030204" pitchFamily="34" charset="0"/>
              <a:cs typeface="Calibri" panose="020F0502020204030204" pitchFamily="34" charset="0"/>
            </a:rPr>
            <a:t>Integration with Oracle UCM for secure storage, workflows, and role-based access.</a:t>
          </a:r>
        </a:p>
      </dgm:t>
    </dgm:pt>
    <dgm:pt modelId="{53D1BF16-5448-4B60-9E8D-D57945D256F9}" type="parTrans" cxnId="{11B3C255-6129-4632-AE1F-A0B644323301}">
      <dgm:prSet/>
      <dgm:spPr/>
      <dgm:t>
        <a:bodyPr/>
        <a:lstStyle/>
        <a:p>
          <a:endParaRPr lang="en-US"/>
        </a:p>
      </dgm:t>
    </dgm:pt>
    <dgm:pt modelId="{808C23D3-EB18-46C5-AB81-A7B39F2D668A}" type="sibTrans" cxnId="{11B3C255-6129-4632-AE1F-A0B644323301}">
      <dgm:prSet/>
      <dgm:spPr/>
      <dgm:t>
        <a:bodyPr/>
        <a:lstStyle/>
        <a:p>
          <a:endParaRPr lang="en-US"/>
        </a:p>
      </dgm:t>
    </dgm:pt>
    <dgm:pt modelId="{C69EE3A8-A92C-43BD-A0E5-2DA00ADEF08A}">
      <dgm:prSet/>
      <dgm:spPr>
        <a:solidFill>
          <a:srgbClr val="CA7502"/>
        </a:solidFill>
      </dgm:spPr>
      <dgm:t>
        <a:bodyPr/>
        <a:lstStyle/>
        <a:p>
          <a:r>
            <a:rPr lang="en-US" dirty="0"/>
            <a:t>Deployment Architecture</a:t>
          </a:r>
        </a:p>
      </dgm:t>
    </dgm:pt>
    <dgm:pt modelId="{D64F573F-5218-44D0-BCE8-3EDC4E315DDA}" type="parTrans" cxnId="{C3E23AFB-35E3-4BCD-983F-7F31FA7E7956}">
      <dgm:prSet/>
      <dgm:spPr/>
      <dgm:t>
        <a:bodyPr/>
        <a:lstStyle/>
        <a:p>
          <a:endParaRPr lang="en-US"/>
        </a:p>
      </dgm:t>
    </dgm:pt>
    <dgm:pt modelId="{3DCB1F06-DC83-4F5C-BA8D-6D3B91E07B6D}" type="sibTrans" cxnId="{C3E23AFB-35E3-4BCD-983F-7F31FA7E7956}">
      <dgm:prSet/>
      <dgm:spPr/>
      <dgm:t>
        <a:bodyPr/>
        <a:lstStyle/>
        <a:p>
          <a:endParaRPr lang="en-US"/>
        </a:p>
      </dgm:t>
    </dgm:pt>
    <dgm:pt modelId="{91F14399-7EBD-4754-BE91-09D570B2A710}">
      <dgm:prSet custT="1"/>
      <dgm:spPr/>
      <dgm:t>
        <a:bodyPr/>
        <a:lstStyle/>
        <a:p>
          <a:r>
            <a:rPr lang="en-US" sz="900" dirty="0">
              <a:latin typeface="Calibri" panose="020F0502020204030204" pitchFamily="34" charset="0"/>
              <a:cs typeface="Calibri" panose="020F0502020204030204" pitchFamily="34" charset="0"/>
            </a:rPr>
            <a:t>Enterprise-level setup using Oracle SOA Suite, WebLogic Portal, and UCM.</a:t>
          </a:r>
        </a:p>
      </dgm:t>
    </dgm:pt>
    <dgm:pt modelId="{B7944F06-6407-415C-AFFF-6493FDB1995B}" type="parTrans" cxnId="{BBB86DCB-B836-4860-A54E-B146C7A631FE}">
      <dgm:prSet/>
      <dgm:spPr/>
      <dgm:t>
        <a:bodyPr/>
        <a:lstStyle/>
        <a:p>
          <a:endParaRPr lang="en-US"/>
        </a:p>
      </dgm:t>
    </dgm:pt>
    <dgm:pt modelId="{3B2F60B6-AD22-4E2F-B458-05857B45C9A3}" type="sibTrans" cxnId="{BBB86DCB-B836-4860-A54E-B146C7A631FE}">
      <dgm:prSet/>
      <dgm:spPr/>
      <dgm:t>
        <a:bodyPr/>
        <a:lstStyle/>
        <a:p>
          <a:endParaRPr lang="en-US"/>
        </a:p>
      </dgm:t>
    </dgm:pt>
    <dgm:pt modelId="{C0392E49-5917-8F46-8E9A-2DAA79AEEC2D}" type="pres">
      <dgm:prSet presAssocID="{AEF870EC-9B28-46CA-B88C-E4C991C8943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05AB98-6517-BF4F-A5B0-2069506C56F9}" type="pres">
      <dgm:prSet presAssocID="{B8E77357-C17C-4567-995B-CE0621597CB1}" presName="root" presStyleCnt="0"/>
      <dgm:spPr/>
    </dgm:pt>
    <dgm:pt modelId="{1F48FCCC-C21F-4041-B77C-64621982C2D9}" type="pres">
      <dgm:prSet presAssocID="{B8E77357-C17C-4567-995B-CE0621597CB1}" presName="rootComposite" presStyleCnt="0"/>
      <dgm:spPr/>
    </dgm:pt>
    <dgm:pt modelId="{8D304F52-9A8A-7545-BD6B-4EB001F1CBEC}" type="pres">
      <dgm:prSet presAssocID="{B8E77357-C17C-4567-995B-CE0621597CB1}" presName="rootText" presStyleLbl="node1" presStyleIdx="0" presStyleCnt="5" custScaleX="124327" custScaleY="327539"/>
      <dgm:spPr/>
    </dgm:pt>
    <dgm:pt modelId="{EDC66ED7-EE73-8941-A07A-938CBFC361A2}" type="pres">
      <dgm:prSet presAssocID="{B8E77357-C17C-4567-995B-CE0621597CB1}" presName="rootConnector" presStyleLbl="node1" presStyleIdx="0" presStyleCnt="5"/>
      <dgm:spPr/>
    </dgm:pt>
    <dgm:pt modelId="{63C4B754-8A4E-7242-B000-6EA1DAEE5243}" type="pres">
      <dgm:prSet presAssocID="{B8E77357-C17C-4567-995B-CE0621597CB1}" presName="childShape" presStyleCnt="0"/>
      <dgm:spPr/>
    </dgm:pt>
    <dgm:pt modelId="{618090E8-F9C4-9A44-9FB1-A5E03D679DB6}" type="pres">
      <dgm:prSet presAssocID="{E5BC8805-1BC7-4E83-9E0E-AD99BFD43471}" presName="root" presStyleCnt="0"/>
      <dgm:spPr/>
    </dgm:pt>
    <dgm:pt modelId="{DBED8947-9741-9C4A-9DB9-952383C87493}" type="pres">
      <dgm:prSet presAssocID="{E5BC8805-1BC7-4E83-9E0E-AD99BFD43471}" presName="rootComposite" presStyleCnt="0"/>
      <dgm:spPr/>
    </dgm:pt>
    <dgm:pt modelId="{51DE01C5-680A-A44E-A9DD-74443A385511}" type="pres">
      <dgm:prSet presAssocID="{E5BC8805-1BC7-4E83-9E0E-AD99BFD43471}" presName="rootText" presStyleLbl="node1" presStyleIdx="1" presStyleCnt="5"/>
      <dgm:spPr/>
    </dgm:pt>
    <dgm:pt modelId="{D4A3FF4E-27C9-884D-84BA-78DF90A0364B}" type="pres">
      <dgm:prSet presAssocID="{E5BC8805-1BC7-4E83-9E0E-AD99BFD43471}" presName="rootConnector" presStyleLbl="node1" presStyleIdx="1" presStyleCnt="5"/>
      <dgm:spPr/>
    </dgm:pt>
    <dgm:pt modelId="{78A74A63-30E7-2549-BA81-04675494A12E}" type="pres">
      <dgm:prSet presAssocID="{E5BC8805-1BC7-4E83-9E0E-AD99BFD43471}" presName="childShape" presStyleCnt="0"/>
      <dgm:spPr/>
    </dgm:pt>
    <dgm:pt modelId="{F42263E0-15CF-3344-9413-2FEBEC750CB3}" type="pres">
      <dgm:prSet presAssocID="{AC54D4E2-45B5-497D-B32C-057BAAD3357D}" presName="Name13" presStyleLbl="parChTrans1D2" presStyleIdx="0" presStyleCnt="4"/>
      <dgm:spPr/>
    </dgm:pt>
    <dgm:pt modelId="{B159CBBE-82A1-3046-800D-D300A323247A}" type="pres">
      <dgm:prSet presAssocID="{D7B6BE01-9455-46BC-8519-A740D183C0CD}" presName="childText" presStyleLbl="bgAcc1" presStyleIdx="0" presStyleCnt="4" custScaleX="111039" custScaleY="108960">
        <dgm:presLayoutVars>
          <dgm:bulletEnabled val="1"/>
        </dgm:presLayoutVars>
      </dgm:prSet>
      <dgm:spPr/>
    </dgm:pt>
    <dgm:pt modelId="{665627ED-0644-E844-9DD3-1412FDBA3FB5}" type="pres">
      <dgm:prSet presAssocID="{547F5BAC-5FAB-422E-A5A4-69D29ECC8902}" presName="root" presStyleCnt="0"/>
      <dgm:spPr/>
    </dgm:pt>
    <dgm:pt modelId="{ECA4F56A-7AED-4D47-B067-EBB2DC49A41C}" type="pres">
      <dgm:prSet presAssocID="{547F5BAC-5FAB-422E-A5A4-69D29ECC8902}" presName="rootComposite" presStyleCnt="0"/>
      <dgm:spPr/>
    </dgm:pt>
    <dgm:pt modelId="{8531A1AC-0406-D34B-948A-5E4F88F94AC0}" type="pres">
      <dgm:prSet presAssocID="{547F5BAC-5FAB-422E-A5A4-69D29ECC8902}" presName="rootText" presStyleLbl="node1" presStyleIdx="2" presStyleCnt="5"/>
      <dgm:spPr/>
    </dgm:pt>
    <dgm:pt modelId="{4EDD5023-F1C7-604C-B182-F9685C1BAF96}" type="pres">
      <dgm:prSet presAssocID="{547F5BAC-5FAB-422E-A5A4-69D29ECC8902}" presName="rootConnector" presStyleLbl="node1" presStyleIdx="2" presStyleCnt="5"/>
      <dgm:spPr/>
    </dgm:pt>
    <dgm:pt modelId="{E6085DD8-B7D3-844B-91DD-952CF0BA3BA2}" type="pres">
      <dgm:prSet presAssocID="{547F5BAC-5FAB-422E-A5A4-69D29ECC8902}" presName="childShape" presStyleCnt="0"/>
      <dgm:spPr/>
    </dgm:pt>
    <dgm:pt modelId="{6F7DC764-FFDE-8D47-827E-50D6BEF43657}" type="pres">
      <dgm:prSet presAssocID="{861B36E6-8167-43F1-B168-6E1544661508}" presName="Name13" presStyleLbl="parChTrans1D2" presStyleIdx="1" presStyleCnt="4"/>
      <dgm:spPr/>
    </dgm:pt>
    <dgm:pt modelId="{5300933B-AD20-874D-9342-7E5FEA833791}" type="pres">
      <dgm:prSet presAssocID="{2FA8B888-6CA8-44FC-A745-754184F59DE2}" presName="childText" presStyleLbl="bgAcc1" presStyleIdx="1" presStyleCnt="4" custScaleX="117996" custScaleY="112195">
        <dgm:presLayoutVars>
          <dgm:bulletEnabled val="1"/>
        </dgm:presLayoutVars>
      </dgm:prSet>
      <dgm:spPr/>
    </dgm:pt>
    <dgm:pt modelId="{D6075639-B6BE-B944-B611-685688D0CD05}" type="pres">
      <dgm:prSet presAssocID="{260A43BF-F1E4-4A63-B8A6-3B583D43C03A}" presName="root" presStyleCnt="0"/>
      <dgm:spPr/>
    </dgm:pt>
    <dgm:pt modelId="{8B321168-3FB5-C145-9396-B313ECB0E94F}" type="pres">
      <dgm:prSet presAssocID="{260A43BF-F1E4-4A63-B8A6-3B583D43C03A}" presName="rootComposite" presStyleCnt="0"/>
      <dgm:spPr/>
    </dgm:pt>
    <dgm:pt modelId="{12CF2F43-7B78-B54E-9FF8-D5CA8701D276}" type="pres">
      <dgm:prSet presAssocID="{260A43BF-F1E4-4A63-B8A6-3B583D43C03A}" presName="rootText" presStyleLbl="node1" presStyleIdx="3" presStyleCnt="5"/>
      <dgm:spPr/>
    </dgm:pt>
    <dgm:pt modelId="{75E7CD98-03D1-6A46-B99C-F4DA80C9FD92}" type="pres">
      <dgm:prSet presAssocID="{260A43BF-F1E4-4A63-B8A6-3B583D43C03A}" presName="rootConnector" presStyleLbl="node1" presStyleIdx="3" presStyleCnt="5"/>
      <dgm:spPr/>
    </dgm:pt>
    <dgm:pt modelId="{94CA05BE-EC1A-9446-8D4D-B212AA39CA78}" type="pres">
      <dgm:prSet presAssocID="{260A43BF-F1E4-4A63-B8A6-3B583D43C03A}" presName="childShape" presStyleCnt="0"/>
      <dgm:spPr/>
    </dgm:pt>
    <dgm:pt modelId="{10965BA6-AB2B-FA40-9B40-A339BB2E3344}" type="pres">
      <dgm:prSet presAssocID="{53D1BF16-5448-4B60-9E8D-D57945D256F9}" presName="Name13" presStyleLbl="parChTrans1D2" presStyleIdx="2" presStyleCnt="4"/>
      <dgm:spPr/>
    </dgm:pt>
    <dgm:pt modelId="{EB903CD7-BB54-D94C-82CD-704BFFF18405}" type="pres">
      <dgm:prSet presAssocID="{7D15414E-B3FA-4DC4-A5BE-69D2FB9E53E6}" presName="childText" presStyleLbl="bgAcc1" presStyleIdx="2" presStyleCnt="4" custScaleX="143150" custScaleY="118665">
        <dgm:presLayoutVars>
          <dgm:bulletEnabled val="1"/>
        </dgm:presLayoutVars>
      </dgm:prSet>
      <dgm:spPr/>
    </dgm:pt>
    <dgm:pt modelId="{331173DA-7A70-0141-A589-CBAD28B496B5}" type="pres">
      <dgm:prSet presAssocID="{C69EE3A8-A92C-43BD-A0E5-2DA00ADEF08A}" presName="root" presStyleCnt="0"/>
      <dgm:spPr/>
    </dgm:pt>
    <dgm:pt modelId="{2846527E-634C-4747-A199-E6F51878BCAD}" type="pres">
      <dgm:prSet presAssocID="{C69EE3A8-A92C-43BD-A0E5-2DA00ADEF08A}" presName="rootComposite" presStyleCnt="0"/>
      <dgm:spPr/>
    </dgm:pt>
    <dgm:pt modelId="{D17A8D4E-5A03-A64B-8A48-7CD59D17E02D}" type="pres">
      <dgm:prSet presAssocID="{C69EE3A8-A92C-43BD-A0E5-2DA00ADEF08A}" presName="rootText" presStyleLbl="node1" presStyleIdx="4" presStyleCnt="5"/>
      <dgm:spPr/>
    </dgm:pt>
    <dgm:pt modelId="{36E6B77C-2732-5948-B800-8EF4AFF8A49A}" type="pres">
      <dgm:prSet presAssocID="{C69EE3A8-A92C-43BD-A0E5-2DA00ADEF08A}" presName="rootConnector" presStyleLbl="node1" presStyleIdx="4" presStyleCnt="5"/>
      <dgm:spPr/>
    </dgm:pt>
    <dgm:pt modelId="{9B05AC40-10AD-9C44-B763-5028522E1BE6}" type="pres">
      <dgm:prSet presAssocID="{C69EE3A8-A92C-43BD-A0E5-2DA00ADEF08A}" presName="childShape" presStyleCnt="0"/>
      <dgm:spPr/>
    </dgm:pt>
    <dgm:pt modelId="{352B9A52-E899-424C-BF1D-F850336EA54B}" type="pres">
      <dgm:prSet presAssocID="{B7944F06-6407-415C-AFFF-6493FDB1995B}" presName="Name13" presStyleLbl="parChTrans1D2" presStyleIdx="3" presStyleCnt="4"/>
      <dgm:spPr/>
    </dgm:pt>
    <dgm:pt modelId="{3A057D20-8FB6-8845-9F62-0466211EAB17}" type="pres">
      <dgm:prSet presAssocID="{91F14399-7EBD-4754-BE91-09D570B2A710}" presName="childText" presStyleLbl="bgAcc1" presStyleIdx="3" presStyleCnt="4" custScaleX="99804" custScaleY="118315">
        <dgm:presLayoutVars>
          <dgm:bulletEnabled val="1"/>
        </dgm:presLayoutVars>
      </dgm:prSet>
      <dgm:spPr/>
    </dgm:pt>
  </dgm:ptLst>
  <dgm:cxnLst>
    <dgm:cxn modelId="{F3CD6905-0D5F-704A-A87A-6BD88A43495F}" type="presOf" srcId="{547F5BAC-5FAB-422E-A5A4-69D29ECC8902}" destId="{4EDD5023-F1C7-604C-B182-F9685C1BAF96}" srcOrd="1" destOrd="0" presId="urn:microsoft.com/office/officeart/2005/8/layout/hierarchy3"/>
    <dgm:cxn modelId="{6B8F560D-C7F1-324C-AB2C-C7575E592999}" type="presOf" srcId="{C69EE3A8-A92C-43BD-A0E5-2DA00ADEF08A}" destId="{D17A8D4E-5A03-A64B-8A48-7CD59D17E02D}" srcOrd="0" destOrd="0" presId="urn:microsoft.com/office/officeart/2005/8/layout/hierarchy3"/>
    <dgm:cxn modelId="{FA68F412-743F-4169-A2D0-A905DDC8C836}" srcId="{AEF870EC-9B28-46CA-B88C-E4C991C89432}" destId="{547F5BAC-5FAB-422E-A5A4-69D29ECC8902}" srcOrd="2" destOrd="0" parTransId="{E38A15D3-4906-4A9B-8376-D3C3A21059F0}" sibTransId="{F746953B-E92B-42A9-9402-9548A4CA92BA}"/>
    <dgm:cxn modelId="{5F11D02E-821C-4E80-85BA-FEE7A6F0C64A}" srcId="{AEF870EC-9B28-46CA-B88C-E4C991C89432}" destId="{B8E77357-C17C-4567-995B-CE0621597CB1}" srcOrd="0" destOrd="0" parTransId="{2994745C-B397-4E67-ACAB-78DBC93625C0}" sibTransId="{EA01230C-FDD7-4C51-A207-41136E3F74A7}"/>
    <dgm:cxn modelId="{20D1C63A-915F-E644-BF58-CF9CA21E85C2}" type="presOf" srcId="{AEF870EC-9B28-46CA-B88C-E4C991C89432}" destId="{C0392E49-5917-8F46-8E9A-2DAA79AEEC2D}" srcOrd="0" destOrd="0" presId="urn:microsoft.com/office/officeart/2005/8/layout/hierarchy3"/>
    <dgm:cxn modelId="{27B66D44-6E6B-D34C-92A4-4260587CCBC5}" type="presOf" srcId="{AC54D4E2-45B5-497D-B32C-057BAAD3357D}" destId="{F42263E0-15CF-3344-9413-2FEBEC750CB3}" srcOrd="0" destOrd="0" presId="urn:microsoft.com/office/officeart/2005/8/layout/hierarchy3"/>
    <dgm:cxn modelId="{BC5B2646-089B-47CA-9C00-19401AAA1240}" srcId="{E5BC8805-1BC7-4E83-9E0E-AD99BFD43471}" destId="{D7B6BE01-9455-46BC-8519-A740D183C0CD}" srcOrd="0" destOrd="0" parTransId="{AC54D4E2-45B5-497D-B32C-057BAAD3357D}" sibTransId="{D354F0EB-AA91-450B-96F3-DF9060F185C9}"/>
    <dgm:cxn modelId="{E3D4E84D-348B-4C49-83E7-8A27603DFF0E}" type="presOf" srcId="{91F14399-7EBD-4754-BE91-09D570B2A710}" destId="{3A057D20-8FB6-8845-9F62-0466211EAB17}" srcOrd="0" destOrd="0" presId="urn:microsoft.com/office/officeart/2005/8/layout/hierarchy3"/>
    <dgm:cxn modelId="{11B3C255-6129-4632-AE1F-A0B644323301}" srcId="{260A43BF-F1E4-4A63-B8A6-3B583D43C03A}" destId="{7D15414E-B3FA-4DC4-A5BE-69D2FB9E53E6}" srcOrd="0" destOrd="0" parTransId="{53D1BF16-5448-4B60-9E8D-D57945D256F9}" sibTransId="{808C23D3-EB18-46C5-AB81-A7B39F2D668A}"/>
    <dgm:cxn modelId="{BEBB937A-1B6D-E64E-BEB1-E7F0685C63BD}" type="presOf" srcId="{D7B6BE01-9455-46BC-8519-A740D183C0CD}" destId="{B159CBBE-82A1-3046-800D-D300A323247A}" srcOrd="0" destOrd="0" presId="urn:microsoft.com/office/officeart/2005/8/layout/hierarchy3"/>
    <dgm:cxn modelId="{4A79D37A-4D25-AC44-8C33-ACB63F69883C}" type="presOf" srcId="{7D15414E-B3FA-4DC4-A5BE-69D2FB9E53E6}" destId="{EB903CD7-BB54-D94C-82CD-704BFFF18405}" srcOrd="0" destOrd="0" presId="urn:microsoft.com/office/officeart/2005/8/layout/hierarchy3"/>
    <dgm:cxn modelId="{18668189-C464-6348-BC8C-0F79EE473CE0}" type="presOf" srcId="{260A43BF-F1E4-4A63-B8A6-3B583D43C03A}" destId="{12CF2F43-7B78-B54E-9FF8-D5CA8701D276}" srcOrd="0" destOrd="0" presId="urn:microsoft.com/office/officeart/2005/8/layout/hierarchy3"/>
    <dgm:cxn modelId="{572FC289-18D5-4041-95BE-EABDD5D131BC}" type="presOf" srcId="{260A43BF-F1E4-4A63-B8A6-3B583D43C03A}" destId="{75E7CD98-03D1-6A46-B99C-F4DA80C9FD92}" srcOrd="1" destOrd="0" presId="urn:microsoft.com/office/officeart/2005/8/layout/hierarchy3"/>
    <dgm:cxn modelId="{154D01AC-A645-CB49-84E0-C66FA02538B2}" type="presOf" srcId="{B8E77357-C17C-4567-995B-CE0621597CB1}" destId="{EDC66ED7-EE73-8941-A07A-938CBFC361A2}" srcOrd="1" destOrd="0" presId="urn:microsoft.com/office/officeart/2005/8/layout/hierarchy3"/>
    <dgm:cxn modelId="{BBF72EB7-E0FE-4EB3-8848-225EB6D17892}" srcId="{547F5BAC-5FAB-422E-A5A4-69D29ECC8902}" destId="{2FA8B888-6CA8-44FC-A745-754184F59DE2}" srcOrd="0" destOrd="0" parTransId="{861B36E6-8167-43F1-B168-6E1544661508}" sibTransId="{5007A887-124F-4BBC-AABC-2A6F89D628EA}"/>
    <dgm:cxn modelId="{FB365FC5-33ED-414F-ADF4-DA4EF413251C}" type="presOf" srcId="{2FA8B888-6CA8-44FC-A745-754184F59DE2}" destId="{5300933B-AD20-874D-9342-7E5FEA833791}" srcOrd="0" destOrd="0" presId="urn:microsoft.com/office/officeart/2005/8/layout/hierarchy3"/>
    <dgm:cxn modelId="{E94782C6-31CD-46DE-BAFC-67615861E6AD}" srcId="{AEF870EC-9B28-46CA-B88C-E4C991C89432}" destId="{E5BC8805-1BC7-4E83-9E0E-AD99BFD43471}" srcOrd="1" destOrd="0" parTransId="{2EC63855-016F-492E-A129-7CE299943F32}" sibTransId="{5EFB93BA-DD74-475E-8167-A8273DE8A846}"/>
    <dgm:cxn modelId="{98E904CA-DC49-DD44-BF88-D337D325B952}" type="presOf" srcId="{53D1BF16-5448-4B60-9E8D-D57945D256F9}" destId="{10965BA6-AB2B-FA40-9B40-A339BB2E3344}" srcOrd="0" destOrd="0" presId="urn:microsoft.com/office/officeart/2005/8/layout/hierarchy3"/>
    <dgm:cxn modelId="{BBB86DCB-B836-4860-A54E-B146C7A631FE}" srcId="{C69EE3A8-A92C-43BD-A0E5-2DA00ADEF08A}" destId="{91F14399-7EBD-4754-BE91-09D570B2A710}" srcOrd="0" destOrd="0" parTransId="{B7944F06-6407-415C-AFFF-6493FDB1995B}" sibTransId="{3B2F60B6-AD22-4E2F-B458-05857B45C9A3}"/>
    <dgm:cxn modelId="{1F9F98D1-D679-8446-971A-6F959E590E49}" type="presOf" srcId="{861B36E6-8167-43F1-B168-6E1544661508}" destId="{6F7DC764-FFDE-8D47-827E-50D6BEF43657}" srcOrd="0" destOrd="0" presId="urn:microsoft.com/office/officeart/2005/8/layout/hierarchy3"/>
    <dgm:cxn modelId="{AEB1BFD4-FF70-3640-BFD5-B978538ADB1A}" type="presOf" srcId="{B8E77357-C17C-4567-995B-CE0621597CB1}" destId="{8D304F52-9A8A-7545-BD6B-4EB001F1CBEC}" srcOrd="0" destOrd="0" presId="urn:microsoft.com/office/officeart/2005/8/layout/hierarchy3"/>
    <dgm:cxn modelId="{894A95D8-17A0-CC4E-BD1D-826639429B29}" type="presOf" srcId="{547F5BAC-5FAB-422E-A5A4-69D29ECC8902}" destId="{8531A1AC-0406-D34B-948A-5E4F88F94AC0}" srcOrd="0" destOrd="0" presId="urn:microsoft.com/office/officeart/2005/8/layout/hierarchy3"/>
    <dgm:cxn modelId="{5E9DBCE5-A2BD-AB4E-BD60-B4CC39D67E05}" type="presOf" srcId="{E5BC8805-1BC7-4E83-9E0E-AD99BFD43471}" destId="{51DE01C5-680A-A44E-A9DD-74443A385511}" srcOrd="0" destOrd="0" presId="urn:microsoft.com/office/officeart/2005/8/layout/hierarchy3"/>
    <dgm:cxn modelId="{B232F8E7-7CF2-43A5-9A5D-8E18B8B0000A}" srcId="{AEF870EC-9B28-46CA-B88C-E4C991C89432}" destId="{260A43BF-F1E4-4A63-B8A6-3B583D43C03A}" srcOrd="3" destOrd="0" parTransId="{8F86C385-92FC-4055-825B-E39FBFBE208E}" sibTransId="{BE0DC1FF-AAAF-4BBD-A140-66FF719CAE1E}"/>
    <dgm:cxn modelId="{C3E23AFB-35E3-4BCD-983F-7F31FA7E7956}" srcId="{AEF870EC-9B28-46CA-B88C-E4C991C89432}" destId="{C69EE3A8-A92C-43BD-A0E5-2DA00ADEF08A}" srcOrd="4" destOrd="0" parTransId="{D64F573F-5218-44D0-BCE8-3EDC4E315DDA}" sibTransId="{3DCB1F06-DC83-4F5C-BA8D-6D3B91E07B6D}"/>
    <dgm:cxn modelId="{D1CDDAFB-F8F1-0641-A619-827F7958578D}" type="presOf" srcId="{E5BC8805-1BC7-4E83-9E0E-AD99BFD43471}" destId="{D4A3FF4E-27C9-884D-84BA-78DF90A0364B}" srcOrd="1" destOrd="0" presId="urn:microsoft.com/office/officeart/2005/8/layout/hierarchy3"/>
    <dgm:cxn modelId="{2A1594FC-4DDC-6147-921E-A23D6480D0D6}" type="presOf" srcId="{B7944F06-6407-415C-AFFF-6493FDB1995B}" destId="{352B9A52-E899-424C-BF1D-F850336EA54B}" srcOrd="0" destOrd="0" presId="urn:microsoft.com/office/officeart/2005/8/layout/hierarchy3"/>
    <dgm:cxn modelId="{8529C7FE-BE0D-A443-9E65-A7B608EBABF7}" type="presOf" srcId="{C69EE3A8-A92C-43BD-A0E5-2DA00ADEF08A}" destId="{36E6B77C-2732-5948-B800-8EF4AFF8A49A}" srcOrd="1" destOrd="0" presId="urn:microsoft.com/office/officeart/2005/8/layout/hierarchy3"/>
    <dgm:cxn modelId="{20ED753E-5871-644F-802D-731C1C865F74}" type="presParOf" srcId="{C0392E49-5917-8F46-8E9A-2DAA79AEEC2D}" destId="{7305AB98-6517-BF4F-A5B0-2069506C56F9}" srcOrd="0" destOrd="0" presId="urn:microsoft.com/office/officeart/2005/8/layout/hierarchy3"/>
    <dgm:cxn modelId="{6B543883-FBDF-5A4F-99C0-88B43F85EF7B}" type="presParOf" srcId="{7305AB98-6517-BF4F-A5B0-2069506C56F9}" destId="{1F48FCCC-C21F-4041-B77C-64621982C2D9}" srcOrd="0" destOrd="0" presId="urn:microsoft.com/office/officeart/2005/8/layout/hierarchy3"/>
    <dgm:cxn modelId="{7D5654F7-3464-6340-B51E-7908008A1AAD}" type="presParOf" srcId="{1F48FCCC-C21F-4041-B77C-64621982C2D9}" destId="{8D304F52-9A8A-7545-BD6B-4EB001F1CBEC}" srcOrd="0" destOrd="0" presId="urn:microsoft.com/office/officeart/2005/8/layout/hierarchy3"/>
    <dgm:cxn modelId="{1385754F-3576-BC4F-898B-04D3EB69BE83}" type="presParOf" srcId="{1F48FCCC-C21F-4041-B77C-64621982C2D9}" destId="{EDC66ED7-EE73-8941-A07A-938CBFC361A2}" srcOrd="1" destOrd="0" presId="urn:microsoft.com/office/officeart/2005/8/layout/hierarchy3"/>
    <dgm:cxn modelId="{83B4FE2E-E28A-2B4A-A391-393208E1325C}" type="presParOf" srcId="{7305AB98-6517-BF4F-A5B0-2069506C56F9}" destId="{63C4B754-8A4E-7242-B000-6EA1DAEE5243}" srcOrd="1" destOrd="0" presId="urn:microsoft.com/office/officeart/2005/8/layout/hierarchy3"/>
    <dgm:cxn modelId="{AC265B41-7134-DD4E-B65B-444076DE3265}" type="presParOf" srcId="{C0392E49-5917-8F46-8E9A-2DAA79AEEC2D}" destId="{618090E8-F9C4-9A44-9FB1-A5E03D679DB6}" srcOrd="1" destOrd="0" presId="urn:microsoft.com/office/officeart/2005/8/layout/hierarchy3"/>
    <dgm:cxn modelId="{F1A96722-85B0-734E-B200-48DD67C8B3B2}" type="presParOf" srcId="{618090E8-F9C4-9A44-9FB1-A5E03D679DB6}" destId="{DBED8947-9741-9C4A-9DB9-952383C87493}" srcOrd="0" destOrd="0" presId="urn:microsoft.com/office/officeart/2005/8/layout/hierarchy3"/>
    <dgm:cxn modelId="{E813412C-AD13-B844-BB5F-A5AD9ADDB511}" type="presParOf" srcId="{DBED8947-9741-9C4A-9DB9-952383C87493}" destId="{51DE01C5-680A-A44E-A9DD-74443A385511}" srcOrd="0" destOrd="0" presId="urn:microsoft.com/office/officeart/2005/8/layout/hierarchy3"/>
    <dgm:cxn modelId="{5E0FD4CA-4619-ED47-825C-A6E109754FD8}" type="presParOf" srcId="{DBED8947-9741-9C4A-9DB9-952383C87493}" destId="{D4A3FF4E-27C9-884D-84BA-78DF90A0364B}" srcOrd="1" destOrd="0" presId="urn:microsoft.com/office/officeart/2005/8/layout/hierarchy3"/>
    <dgm:cxn modelId="{87CF5276-9F8C-1043-9D4C-A15FE64E6944}" type="presParOf" srcId="{618090E8-F9C4-9A44-9FB1-A5E03D679DB6}" destId="{78A74A63-30E7-2549-BA81-04675494A12E}" srcOrd="1" destOrd="0" presId="urn:microsoft.com/office/officeart/2005/8/layout/hierarchy3"/>
    <dgm:cxn modelId="{2E856A02-2182-264B-AC28-7E08507B3089}" type="presParOf" srcId="{78A74A63-30E7-2549-BA81-04675494A12E}" destId="{F42263E0-15CF-3344-9413-2FEBEC750CB3}" srcOrd="0" destOrd="0" presId="urn:microsoft.com/office/officeart/2005/8/layout/hierarchy3"/>
    <dgm:cxn modelId="{B1906B51-A74D-714C-85E2-39B9D62B9A55}" type="presParOf" srcId="{78A74A63-30E7-2549-BA81-04675494A12E}" destId="{B159CBBE-82A1-3046-800D-D300A323247A}" srcOrd="1" destOrd="0" presId="urn:microsoft.com/office/officeart/2005/8/layout/hierarchy3"/>
    <dgm:cxn modelId="{C6B8DF14-DF66-8843-9318-29880BFA25A5}" type="presParOf" srcId="{C0392E49-5917-8F46-8E9A-2DAA79AEEC2D}" destId="{665627ED-0644-E844-9DD3-1412FDBA3FB5}" srcOrd="2" destOrd="0" presId="urn:microsoft.com/office/officeart/2005/8/layout/hierarchy3"/>
    <dgm:cxn modelId="{CB4605A6-8A35-C748-B08B-BA5130B8FCA5}" type="presParOf" srcId="{665627ED-0644-E844-9DD3-1412FDBA3FB5}" destId="{ECA4F56A-7AED-4D47-B067-EBB2DC49A41C}" srcOrd="0" destOrd="0" presId="urn:microsoft.com/office/officeart/2005/8/layout/hierarchy3"/>
    <dgm:cxn modelId="{763EBE5D-E4A7-734A-A538-A9090D78EB0B}" type="presParOf" srcId="{ECA4F56A-7AED-4D47-B067-EBB2DC49A41C}" destId="{8531A1AC-0406-D34B-948A-5E4F88F94AC0}" srcOrd="0" destOrd="0" presId="urn:microsoft.com/office/officeart/2005/8/layout/hierarchy3"/>
    <dgm:cxn modelId="{C5D98D1E-4A71-2242-B250-D93C4AEA1312}" type="presParOf" srcId="{ECA4F56A-7AED-4D47-B067-EBB2DC49A41C}" destId="{4EDD5023-F1C7-604C-B182-F9685C1BAF96}" srcOrd="1" destOrd="0" presId="urn:microsoft.com/office/officeart/2005/8/layout/hierarchy3"/>
    <dgm:cxn modelId="{D65C1095-52B8-7446-A474-FE75F605FCDD}" type="presParOf" srcId="{665627ED-0644-E844-9DD3-1412FDBA3FB5}" destId="{E6085DD8-B7D3-844B-91DD-952CF0BA3BA2}" srcOrd="1" destOrd="0" presId="urn:microsoft.com/office/officeart/2005/8/layout/hierarchy3"/>
    <dgm:cxn modelId="{6B35F45F-7B41-9846-AC3C-90042B3E091B}" type="presParOf" srcId="{E6085DD8-B7D3-844B-91DD-952CF0BA3BA2}" destId="{6F7DC764-FFDE-8D47-827E-50D6BEF43657}" srcOrd="0" destOrd="0" presId="urn:microsoft.com/office/officeart/2005/8/layout/hierarchy3"/>
    <dgm:cxn modelId="{785F26C8-B551-964B-9766-B1532D6E4BA7}" type="presParOf" srcId="{E6085DD8-B7D3-844B-91DD-952CF0BA3BA2}" destId="{5300933B-AD20-874D-9342-7E5FEA833791}" srcOrd="1" destOrd="0" presId="urn:microsoft.com/office/officeart/2005/8/layout/hierarchy3"/>
    <dgm:cxn modelId="{2723CB1A-4B48-2F4F-8274-36BCB4DC7867}" type="presParOf" srcId="{C0392E49-5917-8F46-8E9A-2DAA79AEEC2D}" destId="{D6075639-B6BE-B944-B611-685688D0CD05}" srcOrd="3" destOrd="0" presId="urn:microsoft.com/office/officeart/2005/8/layout/hierarchy3"/>
    <dgm:cxn modelId="{378CB36D-902E-4B43-8D9F-EAE8C0F436DF}" type="presParOf" srcId="{D6075639-B6BE-B944-B611-685688D0CD05}" destId="{8B321168-3FB5-C145-9396-B313ECB0E94F}" srcOrd="0" destOrd="0" presId="urn:microsoft.com/office/officeart/2005/8/layout/hierarchy3"/>
    <dgm:cxn modelId="{84FDB973-8DE3-9D4B-B4C0-44E66F1CD13F}" type="presParOf" srcId="{8B321168-3FB5-C145-9396-B313ECB0E94F}" destId="{12CF2F43-7B78-B54E-9FF8-D5CA8701D276}" srcOrd="0" destOrd="0" presId="urn:microsoft.com/office/officeart/2005/8/layout/hierarchy3"/>
    <dgm:cxn modelId="{7E0C79D0-172C-ED43-8BB4-330CDCA03612}" type="presParOf" srcId="{8B321168-3FB5-C145-9396-B313ECB0E94F}" destId="{75E7CD98-03D1-6A46-B99C-F4DA80C9FD92}" srcOrd="1" destOrd="0" presId="urn:microsoft.com/office/officeart/2005/8/layout/hierarchy3"/>
    <dgm:cxn modelId="{5BB18D93-8F19-FC4A-A32B-D4E1687442FB}" type="presParOf" srcId="{D6075639-B6BE-B944-B611-685688D0CD05}" destId="{94CA05BE-EC1A-9446-8D4D-B212AA39CA78}" srcOrd="1" destOrd="0" presId="urn:microsoft.com/office/officeart/2005/8/layout/hierarchy3"/>
    <dgm:cxn modelId="{83E4101C-91D7-4645-AA07-B3A3A9E62199}" type="presParOf" srcId="{94CA05BE-EC1A-9446-8D4D-B212AA39CA78}" destId="{10965BA6-AB2B-FA40-9B40-A339BB2E3344}" srcOrd="0" destOrd="0" presId="urn:microsoft.com/office/officeart/2005/8/layout/hierarchy3"/>
    <dgm:cxn modelId="{2F8372E3-A65C-DB42-8AC5-C9119141EFDA}" type="presParOf" srcId="{94CA05BE-EC1A-9446-8D4D-B212AA39CA78}" destId="{EB903CD7-BB54-D94C-82CD-704BFFF18405}" srcOrd="1" destOrd="0" presId="urn:microsoft.com/office/officeart/2005/8/layout/hierarchy3"/>
    <dgm:cxn modelId="{AA94F80C-228B-954C-BECA-AC96B807B851}" type="presParOf" srcId="{C0392E49-5917-8F46-8E9A-2DAA79AEEC2D}" destId="{331173DA-7A70-0141-A589-CBAD28B496B5}" srcOrd="4" destOrd="0" presId="urn:microsoft.com/office/officeart/2005/8/layout/hierarchy3"/>
    <dgm:cxn modelId="{6572028E-DB3B-D042-8545-FB81305B8623}" type="presParOf" srcId="{331173DA-7A70-0141-A589-CBAD28B496B5}" destId="{2846527E-634C-4747-A199-E6F51878BCAD}" srcOrd="0" destOrd="0" presId="urn:microsoft.com/office/officeart/2005/8/layout/hierarchy3"/>
    <dgm:cxn modelId="{CFD75BF9-CD11-334A-BA00-9C2B54B83C39}" type="presParOf" srcId="{2846527E-634C-4747-A199-E6F51878BCAD}" destId="{D17A8D4E-5A03-A64B-8A48-7CD59D17E02D}" srcOrd="0" destOrd="0" presId="urn:microsoft.com/office/officeart/2005/8/layout/hierarchy3"/>
    <dgm:cxn modelId="{3BBE85EA-6E9F-B441-A255-6895C990CC56}" type="presParOf" srcId="{2846527E-634C-4747-A199-E6F51878BCAD}" destId="{36E6B77C-2732-5948-B800-8EF4AFF8A49A}" srcOrd="1" destOrd="0" presId="urn:microsoft.com/office/officeart/2005/8/layout/hierarchy3"/>
    <dgm:cxn modelId="{11D33E17-0267-5443-8D7B-77A5BC5C4A95}" type="presParOf" srcId="{331173DA-7A70-0141-A589-CBAD28B496B5}" destId="{9B05AC40-10AD-9C44-B763-5028522E1BE6}" srcOrd="1" destOrd="0" presId="urn:microsoft.com/office/officeart/2005/8/layout/hierarchy3"/>
    <dgm:cxn modelId="{962BC681-71DA-ED4B-AA19-D7C0FBB78E1D}" type="presParOf" srcId="{9B05AC40-10AD-9C44-B763-5028522E1BE6}" destId="{352B9A52-E899-424C-BF1D-F850336EA54B}" srcOrd="0" destOrd="0" presId="urn:microsoft.com/office/officeart/2005/8/layout/hierarchy3"/>
    <dgm:cxn modelId="{661CF21C-99B4-0043-B166-E75003E0DF75}" type="presParOf" srcId="{9B05AC40-10AD-9C44-B763-5028522E1BE6}" destId="{3A057D20-8FB6-8845-9F62-0466211EAB17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304F52-9A8A-7545-BD6B-4EB001F1CBEC}">
      <dsp:nvSpPr>
        <dsp:cNvPr id="0" name=""/>
        <dsp:cNvSpPr/>
      </dsp:nvSpPr>
      <dsp:spPr>
        <a:xfrm>
          <a:off x="1006" y="588832"/>
          <a:ext cx="1619361" cy="2133100"/>
        </a:xfrm>
        <a:prstGeom prst="roundRect">
          <a:avLst>
            <a:gd name="adj" fmla="val 10000"/>
          </a:avLst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libri" panose="020F0502020204030204" pitchFamily="34" charset="0"/>
              <a:cs typeface="Calibri" panose="020F0502020204030204" pitchFamily="34" charset="0"/>
            </a:rPr>
            <a:t>Objective</a:t>
          </a:r>
          <a:r>
            <a:rPr lang="en-US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Calibri" panose="020F0502020204030204" pitchFamily="34" charset="0"/>
              <a:cs typeface="Calibri" panose="020F0502020204030204" pitchFamily="34" charset="0"/>
            </a:rPr>
            <a:t>Integrate legacy applications using Oracle SOA Suite and deliver a unified user experience across enterprise systems</a:t>
          </a:r>
          <a:r>
            <a:rPr lang="en-US" sz="1400" kern="1200" dirty="0">
              <a:latin typeface="Calibri" panose="020F0502020204030204" pitchFamily="34" charset="0"/>
              <a:cs typeface="Calibri" panose="020F0502020204030204" pitchFamily="34" charset="0"/>
            </a:rPr>
            <a:t>.</a:t>
          </a:r>
        </a:p>
      </dsp:txBody>
      <dsp:txXfrm>
        <a:off x="48435" y="636261"/>
        <a:ext cx="1524503" cy="2038242"/>
      </dsp:txXfrm>
    </dsp:sp>
    <dsp:sp modelId="{51DE01C5-680A-A44E-A9DD-74443A385511}">
      <dsp:nvSpPr>
        <dsp:cNvPr id="0" name=""/>
        <dsp:cNvSpPr/>
      </dsp:nvSpPr>
      <dsp:spPr>
        <a:xfrm>
          <a:off x="1945993" y="588832"/>
          <a:ext cx="1302501" cy="651250"/>
        </a:xfrm>
        <a:prstGeom prst="roundRect">
          <a:avLst>
            <a:gd name="adj" fmla="val 10000"/>
          </a:avLst>
        </a:prstGeom>
        <a:solidFill>
          <a:srgbClr val="D4B8A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SOA Integration Layer</a:t>
          </a:r>
        </a:p>
      </dsp:txBody>
      <dsp:txXfrm>
        <a:off x="1965067" y="607906"/>
        <a:ext cx="1264353" cy="613102"/>
      </dsp:txXfrm>
    </dsp:sp>
    <dsp:sp modelId="{F42263E0-15CF-3344-9413-2FEBEC750CB3}">
      <dsp:nvSpPr>
        <dsp:cNvPr id="0" name=""/>
        <dsp:cNvSpPr/>
      </dsp:nvSpPr>
      <dsp:spPr>
        <a:xfrm>
          <a:off x="2076243" y="1240083"/>
          <a:ext cx="130250" cy="5176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7614"/>
              </a:lnTo>
              <a:lnTo>
                <a:pt x="130250" y="51761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59CBBE-82A1-3046-800D-D300A323247A}">
      <dsp:nvSpPr>
        <dsp:cNvPr id="0" name=""/>
        <dsp:cNvSpPr/>
      </dsp:nvSpPr>
      <dsp:spPr>
        <a:xfrm>
          <a:off x="2206493" y="1402895"/>
          <a:ext cx="1157028" cy="7096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BPEL orchestrations for CRM, MDM, and EA systems.</a:t>
          </a:r>
        </a:p>
      </dsp:txBody>
      <dsp:txXfrm>
        <a:off x="2227277" y="1423679"/>
        <a:ext cx="1115460" cy="668034"/>
      </dsp:txXfrm>
    </dsp:sp>
    <dsp:sp modelId="{8531A1AC-0406-D34B-948A-5E4F88F94AC0}">
      <dsp:nvSpPr>
        <dsp:cNvPr id="0" name=""/>
        <dsp:cNvSpPr/>
      </dsp:nvSpPr>
      <dsp:spPr>
        <a:xfrm>
          <a:off x="3574120" y="588832"/>
          <a:ext cx="1302501" cy="651250"/>
        </a:xfrm>
        <a:prstGeom prst="roundRect">
          <a:avLst>
            <a:gd name="adj" fmla="val 10000"/>
          </a:avLst>
        </a:prstGeom>
        <a:solidFill>
          <a:srgbClr val="CA750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Unified Interface</a:t>
          </a:r>
        </a:p>
      </dsp:txBody>
      <dsp:txXfrm>
        <a:off x="3593194" y="607906"/>
        <a:ext cx="1264353" cy="613102"/>
      </dsp:txXfrm>
    </dsp:sp>
    <dsp:sp modelId="{6F7DC764-FFDE-8D47-827E-50D6BEF43657}">
      <dsp:nvSpPr>
        <dsp:cNvPr id="0" name=""/>
        <dsp:cNvSpPr/>
      </dsp:nvSpPr>
      <dsp:spPr>
        <a:xfrm>
          <a:off x="3704370" y="1240083"/>
          <a:ext cx="130250" cy="528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8148"/>
              </a:lnTo>
              <a:lnTo>
                <a:pt x="130250" y="52814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0933B-AD20-874D-9342-7E5FEA833791}">
      <dsp:nvSpPr>
        <dsp:cNvPr id="0" name=""/>
        <dsp:cNvSpPr/>
      </dsp:nvSpPr>
      <dsp:spPr>
        <a:xfrm>
          <a:off x="3834621" y="1402895"/>
          <a:ext cx="1229520" cy="7306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Single WebLogic Portal UI for all legacy applications with SSO via CA SiteMinder.</a:t>
          </a:r>
        </a:p>
      </dsp:txBody>
      <dsp:txXfrm>
        <a:off x="3856022" y="1424296"/>
        <a:ext cx="1186718" cy="687868"/>
      </dsp:txXfrm>
    </dsp:sp>
    <dsp:sp modelId="{12CF2F43-7B78-B54E-9FF8-D5CA8701D276}">
      <dsp:nvSpPr>
        <dsp:cNvPr id="0" name=""/>
        <dsp:cNvSpPr/>
      </dsp:nvSpPr>
      <dsp:spPr>
        <a:xfrm>
          <a:off x="5202248" y="588832"/>
          <a:ext cx="1302501" cy="651250"/>
        </a:xfrm>
        <a:prstGeom prst="roundRect">
          <a:avLst>
            <a:gd name="adj" fmla="val 10000"/>
          </a:avLst>
        </a:prstGeom>
        <a:solidFill>
          <a:srgbClr val="D4B8A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Document Management</a:t>
          </a:r>
        </a:p>
      </dsp:txBody>
      <dsp:txXfrm>
        <a:off x="5221322" y="607906"/>
        <a:ext cx="1264353" cy="613102"/>
      </dsp:txXfrm>
    </dsp:sp>
    <dsp:sp modelId="{10965BA6-AB2B-FA40-9B40-A339BB2E3344}">
      <dsp:nvSpPr>
        <dsp:cNvPr id="0" name=""/>
        <dsp:cNvSpPr/>
      </dsp:nvSpPr>
      <dsp:spPr>
        <a:xfrm>
          <a:off x="5332498" y="1240083"/>
          <a:ext cx="130250" cy="549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9216"/>
              </a:lnTo>
              <a:lnTo>
                <a:pt x="130250" y="54921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903CD7-BB54-D94C-82CD-704BFFF18405}">
      <dsp:nvSpPr>
        <dsp:cNvPr id="0" name=""/>
        <dsp:cNvSpPr/>
      </dsp:nvSpPr>
      <dsp:spPr>
        <a:xfrm>
          <a:off x="5462748" y="1402895"/>
          <a:ext cx="1491625" cy="772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Integration with Oracle UCM for secure storage, workflows, and role-based access.</a:t>
          </a:r>
        </a:p>
      </dsp:txBody>
      <dsp:txXfrm>
        <a:off x="5485383" y="1425530"/>
        <a:ext cx="1446355" cy="727536"/>
      </dsp:txXfrm>
    </dsp:sp>
    <dsp:sp modelId="{D17A8D4E-5A03-A64B-8A48-7CD59D17E02D}">
      <dsp:nvSpPr>
        <dsp:cNvPr id="0" name=""/>
        <dsp:cNvSpPr/>
      </dsp:nvSpPr>
      <dsp:spPr>
        <a:xfrm>
          <a:off x="7019498" y="588832"/>
          <a:ext cx="1302501" cy="651250"/>
        </a:xfrm>
        <a:prstGeom prst="roundRect">
          <a:avLst>
            <a:gd name="adj" fmla="val 10000"/>
          </a:avLst>
        </a:prstGeom>
        <a:solidFill>
          <a:srgbClr val="CA750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Deployment Architecture</a:t>
          </a:r>
        </a:p>
      </dsp:txBody>
      <dsp:txXfrm>
        <a:off x="7038572" y="607906"/>
        <a:ext cx="1264353" cy="613102"/>
      </dsp:txXfrm>
    </dsp:sp>
    <dsp:sp modelId="{352B9A52-E899-424C-BF1D-F850336EA54B}">
      <dsp:nvSpPr>
        <dsp:cNvPr id="0" name=""/>
        <dsp:cNvSpPr/>
      </dsp:nvSpPr>
      <dsp:spPr>
        <a:xfrm>
          <a:off x="7149748" y="1240083"/>
          <a:ext cx="130250" cy="548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8076"/>
              </a:lnTo>
              <a:lnTo>
                <a:pt x="130250" y="54807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057D20-8FB6-8845-9F62-0466211EAB17}">
      <dsp:nvSpPr>
        <dsp:cNvPr id="0" name=""/>
        <dsp:cNvSpPr/>
      </dsp:nvSpPr>
      <dsp:spPr>
        <a:xfrm>
          <a:off x="7279998" y="1402895"/>
          <a:ext cx="1039959" cy="7705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Enterprise-level setup using Oracle SOA Suite, WebLogic Portal, and UCM.</a:t>
          </a:r>
        </a:p>
      </dsp:txBody>
      <dsp:txXfrm>
        <a:off x="7302566" y="1425463"/>
        <a:ext cx="994823" cy="7253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04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737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289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7425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4939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092134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598840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8293610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7179940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2861304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44755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546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838689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761604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1382785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5873023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10225" y="1310850"/>
            <a:ext cx="5476800" cy="25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084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1556331" y="1349141"/>
            <a:ext cx="7085700" cy="29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▪"/>
              <a:defRPr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▫"/>
              <a:defRPr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▫"/>
              <a:defRPr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▫"/>
              <a:defRPr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4678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1560175" y="1375225"/>
            <a:ext cx="2317500" cy="33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2"/>
          </p:nvPr>
        </p:nvSpPr>
        <p:spPr>
          <a:xfrm>
            <a:off x="3996525" y="1375225"/>
            <a:ext cx="2317500" cy="33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3"/>
          </p:nvPr>
        </p:nvSpPr>
        <p:spPr>
          <a:xfrm>
            <a:off x="6432874" y="1375225"/>
            <a:ext cx="2317500" cy="33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335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half slide">
  <p:cSld name="Title + 1 column half 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483099" y="393475"/>
            <a:ext cx="3460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865550" y="1349150"/>
            <a:ext cx="3776400" cy="29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▪"/>
              <a:defRPr sz="2200"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001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CCB68-EE12-2846-BA2B-5AA262AAD545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6519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60" r:id="rId13"/>
    <p:sldLayoutId id="2147483761" r:id="rId14"/>
    <p:sldLayoutId id="2147483762" r:id="rId15"/>
  </p:sldLayoutIdLst>
  <p:transition>
    <p:fade thruBlk="1"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10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png"/><Relationship Id="rId5" Type="http://schemas.openxmlformats.org/officeDocument/2006/relationships/image" Target="../media/image17.gif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5.jpeg"/><Relationship Id="rId18" Type="http://schemas.openxmlformats.org/officeDocument/2006/relationships/image" Target="../media/image39.jpeg"/><Relationship Id="rId26" Type="http://schemas.openxmlformats.org/officeDocument/2006/relationships/image" Target="../media/image1.png"/><Relationship Id="rId3" Type="http://schemas.openxmlformats.org/officeDocument/2006/relationships/image" Target="../media/image28.jpeg"/><Relationship Id="rId21" Type="http://schemas.openxmlformats.org/officeDocument/2006/relationships/image" Target="../media/image41.jpeg"/><Relationship Id="rId7" Type="http://schemas.openxmlformats.org/officeDocument/2006/relationships/image" Target="../media/image15.png"/><Relationship Id="rId12" Type="http://schemas.openxmlformats.org/officeDocument/2006/relationships/image" Target="../media/image13.jpeg"/><Relationship Id="rId17" Type="http://schemas.openxmlformats.org/officeDocument/2006/relationships/image" Target="../media/image38.jpeg"/><Relationship Id="rId25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.jpeg"/><Relationship Id="rId20" Type="http://schemas.openxmlformats.org/officeDocument/2006/relationships/image" Target="../media/image40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11" Type="http://schemas.openxmlformats.org/officeDocument/2006/relationships/image" Target="../media/image34.png"/><Relationship Id="rId24" Type="http://schemas.openxmlformats.org/officeDocument/2006/relationships/image" Target="../media/image24.png"/><Relationship Id="rId5" Type="http://schemas.openxmlformats.org/officeDocument/2006/relationships/image" Target="../media/image30.jpeg"/><Relationship Id="rId15" Type="http://schemas.openxmlformats.org/officeDocument/2006/relationships/image" Target="../media/image37.png"/><Relationship Id="rId23" Type="http://schemas.openxmlformats.org/officeDocument/2006/relationships/image" Target="../media/image43.jpeg"/><Relationship Id="rId10" Type="http://schemas.openxmlformats.org/officeDocument/2006/relationships/image" Target="../media/image33.jpeg"/><Relationship Id="rId19" Type="http://schemas.openxmlformats.org/officeDocument/2006/relationships/image" Target="../media/image17.gif"/><Relationship Id="rId4" Type="http://schemas.openxmlformats.org/officeDocument/2006/relationships/image" Target="../media/image29.jpeg"/><Relationship Id="rId9" Type="http://schemas.openxmlformats.org/officeDocument/2006/relationships/image" Target="../media/image32.jpeg"/><Relationship Id="rId14" Type="http://schemas.openxmlformats.org/officeDocument/2006/relationships/image" Target="../media/image36.jpeg"/><Relationship Id="rId22" Type="http://schemas.openxmlformats.org/officeDocument/2006/relationships/image" Target="../media/image4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4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5" name="Group 14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91743" y="-36760"/>
            <a:ext cx="5360514" cy="5876916"/>
            <a:chOff x="329184" y="-99107"/>
            <a:chExt cx="524256" cy="5876916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Rectangle 15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8" name="Rectangle 15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791788"/>
            <a:ext cx="8249304" cy="25187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1143000" y="1188512"/>
            <a:ext cx="6858000" cy="1913872"/>
          </a:xfrm>
        </p:spPr>
        <p:txBody>
          <a:bodyPr spcFirstLastPara="1" lIns="91425" tIns="91425" rIns="91425" bIns="91425" anchor="ctr" anchorCtr="0">
            <a:normAutofit/>
          </a:bodyPr>
          <a:lstStyle/>
          <a:p>
            <a:pPr lvl="0" algn="ctr"/>
            <a:r>
              <a:rPr lang="en-IN" sz="3900"/>
              <a:t>NILE TECHNOLOGIES</a:t>
            </a:r>
            <a:br>
              <a:rPr lang="en-IN" sz="3900"/>
            </a:br>
            <a:br>
              <a:rPr lang="en-IN" sz="3900"/>
            </a:br>
            <a:r>
              <a:rPr lang="en-IN" sz="2800" i="1"/>
              <a:t>Developing a Compelling Model</a:t>
            </a:r>
            <a:endParaRPr lang="en-IN" sz="2800" i="1" dirty="0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B03B4EE3-D57D-2D41-A6B5-75C094BD65D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  <p:pic>
        <p:nvPicPr>
          <p:cNvPr id="142" name="Picture 141" descr="Nil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6217920"/>
            <a:ext cx="1032387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494210" y="266637"/>
            <a:ext cx="7560193" cy="5728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In Brief…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2D2D34-8D77-B449-BF21-3052F4ECA787}"/>
              </a:ext>
            </a:extLst>
          </p:cNvPr>
          <p:cNvSpPr txBox="1"/>
          <p:nvPr/>
        </p:nvSpPr>
        <p:spPr>
          <a:xfrm>
            <a:off x="662691" y="1375045"/>
            <a:ext cx="25322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>
                <a:latin typeface="Calibri" panose="020F0502020204030204" pitchFamily="34" charset="0"/>
                <a:cs typeface="Calibri" panose="020F0502020204030204" pitchFamily="34" charset="0"/>
              </a:rPr>
              <a:t>Young &amp; Agile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14 + Years in Operation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India Based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Strong Financial backing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EEB68F-6EB7-F741-BF5E-0291FC7D6DED}"/>
              </a:ext>
            </a:extLst>
          </p:cNvPr>
          <p:cNvSpPr txBox="1"/>
          <p:nvPr/>
        </p:nvSpPr>
        <p:spPr>
          <a:xfrm>
            <a:off x="3232888" y="1359016"/>
            <a:ext cx="18922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Fast Growing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00 + Projects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40 + Clients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Countries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100 + Team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01 offices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8F0C0B-30A8-8946-91D1-A9D2201DD162}"/>
              </a:ext>
            </a:extLst>
          </p:cNvPr>
          <p:cNvSpPr txBox="1"/>
          <p:nvPr/>
        </p:nvSpPr>
        <p:spPr>
          <a:xfrm>
            <a:off x="5158968" y="1375045"/>
            <a:ext cx="18922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Innovation Driven 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Investing on Technology, People &amp; Industry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BB5E65-B05C-B949-8F37-AD91F07AAFA4}"/>
              </a:ext>
            </a:extLst>
          </p:cNvPr>
          <p:cNvSpPr txBox="1"/>
          <p:nvPr/>
        </p:nvSpPr>
        <p:spPr>
          <a:xfrm>
            <a:off x="7051263" y="1233629"/>
            <a:ext cx="16991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Professionally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sz="1800" u="sng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Managed</a:t>
            </a:r>
          </a:p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Certified Consultants, Project Managers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2000+ person years of experience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Experienced Senior Management</a:t>
            </a:r>
          </a:p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1" name="Picture 7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28CD829-0FE0-ED47-8181-85C9FF342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" y="4658073"/>
            <a:ext cx="1023015" cy="419437"/>
          </a:xfrm>
          <a:prstGeom prst="rect">
            <a:avLst/>
          </a:prstGeom>
        </p:spPr>
      </p:pic>
      <p:pic>
        <p:nvPicPr>
          <p:cNvPr id="131" name="Picture 130" descr="Nil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6217920"/>
            <a:ext cx="1032387" cy="457200"/>
          </a:xfrm>
          <a:prstGeom prst="rect">
            <a:avLst/>
          </a:prstGeom>
        </p:spPr>
      </p:pic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6D1BA236-6458-8B4B-9785-FC053089533E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>
            <a:spLocks noGrp="1"/>
          </p:cNvSpPr>
          <p:nvPr>
            <p:ph type="title"/>
          </p:nvPr>
        </p:nvSpPr>
        <p:spPr>
          <a:xfrm>
            <a:off x="318977" y="270724"/>
            <a:ext cx="8196373" cy="5781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Our Growth Journey…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2" name="Google Shape;202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210" name="Google Shape;210;p25"/>
          <p:cNvGrpSpPr/>
          <p:nvPr/>
        </p:nvGrpSpPr>
        <p:grpSpPr>
          <a:xfrm>
            <a:off x="3714039" y="1586929"/>
            <a:ext cx="2471000" cy="2748002"/>
            <a:chOff x="3071457" y="2013875"/>
            <a:chExt cx="1944600" cy="156960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211" name="Google Shape;211;p25"/>
            <p:cNvSpPr/>
            <p:nvPr/>
          </p:nvSpPr>
          <p:spPr>
            <a:xfrm rot="10800000" flipH="1">
              <a:off x="3071457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Calibri" panose="020F0502020204030204" pitchFamily="34" charset="0"/>
                <a:ea typeface="Barlow"/>
                <a:cs typeface="Calibri" panose="020F0502020204030204" pitchFamily="34" charset="0"/>
                <a:sym typeface="Barlow"/>
              </a:endParaRPr>
            </a:p>
          </p:txBody>
        </p:sp>
        <p:sp>
          <p:nvSpPr>
            <p:cNvPr id="212" name="Google Shape;212;p25"/>
            <p:cNvSpPr txBox="1"/>
            <p:nvPr/>
          </p:nvSpPr>
          <p:spPr>
            <a:xfrm>
              <a:off x="3310047" y="2357330"/>
              <a:ext cx="1451700" cy="27625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b="1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GROWTH</a:t>
              </a:r>
            </a:p>
          </p:txBody>
        </p:sp>
        <p:sp>
          <p:nvSpPr>
            <p:cNvPr id="213" name="Google Shape;213;p25"/>
            <p:cNvSpPr txBox="1"/>
            <p:nvPr/>
          </p:nvSpPr>
          <p:spPr>
            <a:xfrm>
              <a:off x="3135743" y="2633581"/>
              <a:ext cx="1828831" cy="512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Started in 2011-12 with 10 Employees &amp; grew to 40 Employees by 2014-15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Today we are 100 + Employees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Young and Agile with </a:t>
              </a:r>
              <a:r>
                <a:rPr lang="en-IN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experienced professionals , state-of-the-art technology and a proven track record</a:t>
              </a:r>
              <a:endParaRPr sz="1200" dirty="0">
                <a:latin typeface="Calibri" panose="020F0502020204030204" pitchFamily="34" charset="0"/>
                <a:cs typeface="Calibri" panose="020F0502020204030204" pitchFamily="34" charset="0"/>
                <a:sym typeface="Barlow"/>
              </a:endParaRPr>
            </a:p>
          </p:txBody>
        </p:sp>
      </p:grpSp>
      <p:grpSp>
        <p:nvGrpSpPr>
          <p:cNvPr id="214" name="Google Shape;214;p25"/>
          <p:cNvGrpSpPr/>
          <p:nvPr/>
        </p:nvGrpSpPr>
        <p:grpSpPr>
          <a:xfrm>
            <a:off x="1302892" y="1586928"/>
            <a:ext cx="2413533" cy="2748003"/>
            <a:chOff x="1126863" y="2013875"/>
            <a:chExt cx="1944600" cy="15696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15" name="Google Shape;215;p25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Calibri" panose="020F0502020204030204" pitchFamily="34" charset="0"/>
                <a:ea typeface="Barlow"/>
                <a:cs typeface="Calibri" panose="020F0502020204030204" pitchFamily="34" charset="0"/>
                <a:sym typeface="Barlow"/>
              </a:endParaRPr>
            </a:p>
          </p:txBody>
        </p:sp>
        <p:sp>
          <p:nvSpPr>
            <p:cNvPr id="216" name="Google Shape;216;p25"/>
            <p:cNvSpPr txBox="1"/>
            <p:nvPr/>
          </p:nvSpPr>
          <p:spPr>
            <a:xfrm>
              <a:off x="1351627" y="2357330"/>
              <a:ext cx="1451700" cy="27625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ESTABLISHMENT</a:t>
              </a:r>
            </a:p>
          </p:txBody>
        </p:sp>
        <p:sp>
          <p:nvSpPr>
            <p:cNvPr id="217" name="Google Shape;217;p25"/>
            <p:cNvSpPr txBox="1"/>
            <p:nvPr/>
          </p:nvSpPr>
          <p:spPr>
            <a:xfrm>
              <a:off x="1185775" y="2633582"/>
              <a:ext cx="1813867" cy="512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Established in September 2011 by Senior Professionals from Oracle, Accenture and IBM</a:t>
              </a:r>
            </a:p>
          </p:txBody>
        </p:sp>
      </p:grpSp>
      <p:grpSp>
        <p:nvGrpSpPr>
          <p:cNvPr id="218" name="Google Shape;218;p25"/>
          <p:cNvGrpSpPr/>
          <p:nvPr/>
        </p:nvGrpSpPr>
        <p:grpSpPr>
          <a:xfrm>
            <a:off x="6186336" y="1586928"/>
            <a:ext cx="2471001" cy="2723762"/>
            <a:chOff x="5015938" y="2013875"/>
            <a:chExt cx="3001200" cy="1569600"/>
          </a:xfrm>
          <a:solidFill>
            <a:schemeClr val="accent6"/>
          </a:solidFill>
        </p:grpSpPr>
        <p:sp>
          <p:nvSpPr>
            <p:cNvPr id="219" name="Google Shape;219;p25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Calibri" panose="020F0502020204030204" pitchFamily="34" charset="0"/>
                <a:ea typeface="Barlow"/>
                <a:cs typeface="Calibri" panose="020F0502020204030204" pitchFamily="34" charset="0"/>
                <a:sym typeface="Barlo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Calibri" panose="020F0502020204030204" pitchFamily="34" charset="0"/>
                <a:ea typeface="Barlow"/>
                <a:cs typeface="Calibri" panose="020F0502020204030204" pitchFamily="34" charset="0"/>
                <a:sym typeface="Barlo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Calibri" panose="020F0502020204030204" pitchFamily="34" charset="0"/>
                <a:ea typeface="Barlow"/>
                <a:cs typeface="Calibri" panose="020F0502020204030204" pitchFamily="34" charset="0"/>
                <a:sym typeface="Barlo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Calibri" panose="020F0502020204030204" pitchFamily="34" charset="0"/>
                <a:ea typeface="Barlow"/>
                <a:cs typeface="Calibri" panose="020F0502020204030204" pitchFamily="34" charset="0"/>
                <a:sym typeface="Barlow"/>
              </a:endParaRPr>
            </a:p>
          </p:txBody>
        </p:sp>
        <p:sp>
          <p:nvSpPr>
            <p:cNvPr id="220" name="Google Shape;220;p25"/>
            <p:cNvSpPr txBox="1"/>
            <p:nvPr/>
          </p:nvSpPr>
          <p:spPr>
            <a:xfrm>
              <a:off x="5313697" y="2346251"/>
              <a:ext cx="2417099" cy="19004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ACHIEVEMENT	</a:t>
              </a:r>
            </a:p>
          </p:txBody>
        </p:sp>
        <p:sp>
          <p:nvSpPr>
            <p:cNvPr id="221" name="Google Shape;221;p25"/>
            <p:cNvSpPr txBox="1"/>
            <p:nvPr/>
          </p:nvSpPr>
          <p:spPr>
            <a:xfrm>
              <a:off x="5125784" y="2626489"/>
              <a:ext cx="2774009" cy="512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Completed over 200 + Customer Implementations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100%  Success Rate in Implementations with Customer References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Over 100 + Satisfied Customers</a:t>
              </a:r>
            </a:p>
          </p:txBody>
        </p:sp>
      </p:grpSp>
      <p:grpSp>
        <p:nvGrpSpPr>
          <p:cNvPr id="222" name="Google Shape;222;p25"/>
          <p:cNvGrpSpPr/>
          <p:nvPr/>
        </p:nvGrpSpPr>
        <p:grpSpPr>
          <a:xfrm>
            <a:off x="6138714" y="2322440"/>
            <a:ext cx="261571" cy="260379"/>
            <a:chOff x="4858109" y="2631368"/>
            <a:chExt cx="316442" cy="315000"/>
          </a:xfrm>
        </p:grpSpPr>
        <p:sp>
          <p:nvSpPr>
            <p:cNvPr id="223" name="Google Shape;223;p25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4" name="Google Shape;224;p25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>
                  <a:latin typeface="Barlow"/>
                  <a:ea typeface="Barlow"/>
                  <a:cs typeface="Barlow"/>
                  <a:sym typeface="Barlow"/>
                </a:rPr>
              </a:b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29" name="Google Shape;222;p25">
            <a:extLst>
              <a:ext uri="{FF2B5EF4-FFF2-40B4-BE49-F238E27FC236}">
                <a16:creationId xmlns:a16="http://schemas.microsoft.com/office/drawing/2014/main" id="{49C187F0-AEC1-E943-94A5-AEF7AD59BABA}"/>
              </a:ext>
            </a:extLst>
          </p:cNvPr>
          <p:cNvGrpSpPr/>
          <p:nvPr/>
        </p:nvGrpSpPr>
        <p:grpSpPr>
          <a:xfrm>
            <a:off x="3633352" y="2328347"/>
            <a:ext cx="261571" cy="260379"/>
            <a:chOff x="4858109" y="2631368"/>
            <a:chExt cx="316442" cy="315000"/>
          </a:xfrm>
        </p:grpSpPr>
        <p:sp>
          <p:nvSpPr>
            <p:cNvPr id="30" name="Google Shape;223;p25">
              <a:extLst>
                <a:ext uri="{FF2B5EF4-FFF2-40B4-BE49-F238E27FC236}">
                  <a16:creationId xmlns:a16="http://schemas.microsoft.com/office/drawing/2014/main" id="{13FC9A3D-A1B2-1848-B4C0-C54E1B68EF74}"/>
                </a:ext>
              </a:extLst>
            </p:cNvPr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224;p25">
              <a:extLst>
                <a:ext uri="{FF2B5EF4-FFF2-40B4-BE49-F238E27FC236}">
                  <a16:creationId xmlns:a16="http://schemas.microsoft.com/office/drawing/2014/main" id="{465E0C8D-7295-E941-A55D-91193D58C696}"/>
                </a:ext>
              </a:extLst>
            </p:cNvPr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>
                  <a:latin typeface="Barlow"/>
                  <a:ea typeface="Barlow"/>
                  <a:cs typeface="Barlow"/>
                  <a:sym typeface="Barlow"/>
                </a:rPr>
              </a:b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pic>
        <p:nvPicPr>
          <p:cNvPr id="39" name="Picture 3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28325D-7042-DD4F-9500-6899AC69B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" y="4658073"/>
            <a:ext cx="1023015" cy="4194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AE6C69-1E5B-7645-957D-36514B0F9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3545" y="1647129"/>
            <a:ext cx="457200" cy="482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20EE0D-7B3A-0046-B68E-6B5FCED4A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81" y="1832453"/>
            <a:ext cx="342900" cy="317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E15AA4-9C03-B942-9F49-83CA1A9E8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395" y="1851244"/>
            <a:ext cx="330200" cy="342900"/>
          </a:xfrm>
          <a:prstGeom prst="rect">
            <a:avLst/>
          </a:prstGeom>
        </p:spPr>
      </p:pic>
      <p:pic>
        <p:nvPicPr>
          <p:cNvPr id="225" name="Picture 224" descr="Nile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6217920"/>
            <a:ext cx="1032387" cy="457200"/>
          </a:xfrm>
          <a:prstGeom prst="rect">
            <a:avLst/>
          </a:prstGeom>
        </p:spPr>
      </p:pic>
      <p:pic>
        <p:nvPicPr>
          <p:cNvPr id="27" name="Picture 26" descr="A blue and white logo&#10;&#10;Description automatically generated">
            <a:extLst>
              <a:ext uri="{FF2B5EF4-FFF2-40B4-BE49-F238E27FC236}">
                <a16:creationId xmlns:a16="http://schemas.microsoft.com/office/drawing/2014/main" id="{70A24FC2-B706-D344-9CFC-61E17E7A0038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5B6914-E9C8-384C-B966-1D71F25B2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03999" y="4767262"/>
            <a:ext cx="2057400" cy="273844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"/>
          </a:p>
        </p:txBody>
      </p:sp>
      <p:pic>
        <p:nvPicPr>
          <p:cNvPr id="1025" name="Picture 1" descr="page4image1599426976">
            <a:extLst>
              <a:ext uri="{FF2B5EF4-FFF2-40B4-BE49-F238E27FC236}">
                <a16:creationId xmlns:a16="http://schemas.microsoft.com/office/drawing/2014/main" id="{DDE9817E-6B6E-A549-B590-A63ACD8DF3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21" r="3041" b="11438"/>
          <a:stretch/>
        </p:blipFill>
        <p:spPr bwMode="auto">
          <a:xfrm>
            <a:off x="0" y="1515041"/>
            <a:ext cx="9059318" cy="3003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C34AA0FD-965C-5544-9BA7-ED58C3F925DD}"/>
              </a:ext>
            </a:extLst>
          </p:cNvPr>
          <p:cNvSpPr txBox="1">
            <a:spLocks/>
          </p:cNvSpPr>
          <p:nvPr/>
        </p:nvSpPr>
        <p:spPr>
          <a:xfrm>
            <a:off x="606666" y="0"/>
            <a:ext cx="7026033" cy="153108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IN" sz="1200" b="1" dirty="0">
                <a:solidFill>
                  <a:srgbClr val="000000"/>
                </a:solidFill>
              </a:rPr>
            </a:br>
            <a:br>
              <a:rPr lang="en-IN" sz="1200" dirty="0">
                <a:solidFill>
                  <a:srgbClr val="000000"/>
                </a:solidFill>
              </a:rPr>
            </a:br>
            <a:b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Core Capabilities</a:t>
            </a:r>
            <a:br>
              <a:rPr lang="en-IN" b="1" u="sng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b="1" u="sng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6C75ED4D-B931-394B-9B7A-29642BCFC11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2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SzPts val="2400"/>
              <a:defRPr sz="3600" b="1">
                <a:solidFill>
                  <a:srgbClr val="00467F"/>
                </a:solidFill>
              </a:defRPr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AI Capabilities…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2414" y="1176617"/>
            <a:ext cx="3669029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>
              <a:defRPr sz="1800" b="1"/>
            </a:pPr>
            <a:r>
              <a:rPr sz="2000" dirty="0"/>
              <a:t>GEN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dirty="0"/>
              <a:t>Text generation, translation, and summarization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dirty="0"/>
              <a:t>Image and video synthesis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dirty="0"/>
              <a:t>Content creation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dirty="0"/>
              <a:t>Natural language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0621" y="1190064"/>
            <a:ext cx="3669030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350" dirty="0"/>
          </a:p>
          <a:p>
            <a:pPr>
              <a:defRPr sz="1800" b="1"/>
            </a:pPr>
            <a:r>
              <a:rPr sz="2000" dirty="0"/>
              <a:t>AGENTIC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dirty="0"/>
              <a:t>Autonomous problem-solving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dirty="0"/>
              <a:t>Task completion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dirty="0"/>
              <a:t>Decision making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dirty="0"/>
              <a:t>Personalization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39" y="3954781"/>
            <a:ext cx="76238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  <a:defRPr sz="1400" b="1">
                <a:solidFill>
                  <a:srgbClr val="00467F"/>
                </a:solidFill>
              </a:defRPr>
            </a:pPr>
            <a:r>
              <a:rPr dirty="0"/>
              <a:t>No. of Resources: </a:t>
            </a:r>
            <a:r>
              <a:rPr lang="en-US" dirty="0"/>
              <a:t>40+</a:t>
            </a:r>
          </a:p>
          <a:p>
            <a:pPr marL="457200" indent="-457200">
              <a:buAutoNum type="arabicPeriod"/>
              <a:defRPr sz="1400" b="1">
                <a:solidFill>
                  <a:srgbClr val="00467F"/>
                </a:solidFill>
              </a:defRPr>
            </a:pPr>
            <a:r>
              <a:rPr dirty="0"/>
              <a:t> Developing Use-cases for large multi-national clients</a:t>
            </a:r>
            <a:endParaRPr lang="en-US" dirty="0"/>
          </a:p>
          <a:p>
            <a:pPr marL="457200" indent="-457200">
              <a:buAutoNum type="arabicPeriod"/>
              <a:defRPr sz="1400" b="1">
                <a:solidFill>
                  <a:srgbClr val="00467F"/>
                </a:solidFill>
              </a:defRPr>
            </a:pPr>
            <a:r>
              <a:rPr lang="en-US" dirty="0"/>
              <a:t>Open to working with clients on problem solving and use cases</a:t>
            </a:r>
            <a:endParaRPr dirty="0"/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7D44D48C-6744-4B44-AF81-C7BD0817DA1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91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A30B-961F-F043-85EE-E09E11B5E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833596"/>
          </a:xfrm>
        </p:spPr>
        <p:txBody>
          <a:bodyPr/>
          <a:lstStyle/>
          <a:p>
            <a:r>
              <a:rPr lang="en-US" dirty="0"/>
              <a:t>Why Nile…..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50198C-573F-5246-91CF-5955B462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B8A64-4128-6C4A-A7EA-E9E765E11B03}"/>
              </a:ext>
            </a:extLst>
          </p:cNvPr>
          <p:cNvSpPr txBox="1"/>
          <p:nvPr/>
        </p:nvSpPr>
        <p:spPr>
          <a:xfrm>
            <a:off x="548640" y="1107440"/>
            <a:ext cx="78867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Expertise &amp; Specialization : Our team comprises experts in AI, ML, Analytics  &amp; Managed Services.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Global Reach : Nile has a strong track record of working with global clients in diverse industries. Our experience enables us to understand unique challenges and opportunities faced by enterprise organizations.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 Solutions: Every project is delivered based on its unique requirements. Customizations ensure that our clients received maximum value from our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Omnichannel Digital Platform: Our use of Omnichannel digital platform enables seamless integration across various channels creating a unified enhanced experience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Vision and Mission: Our vision is to be “Desired Company” in our areas of operations. We aim to fully deliver our projects with least nuances. 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2949CAB8-BB23-074C-8996-9B81C40DB6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8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8F738-0DC3-D448-B7A9-9D9F8D6BD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Nile’s Application Development Projects…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F73E0-295B-5143-A1BB-910E09A6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FA9A29-19C4-9E4F-85EF-0E40A432E0A7}"/>
              </a:ext>
            </a:extLst>
          </p:cNvPr>
          <p:cNvSpPr txBox="1"/>
          <p:nvPr/>
        </p:nvSpPr>
        <p:spPr>
          <a:xfrm>
            <a:off x="628650" y="1203159"/>
            <a:ext cx="7886699" cy="380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User Interfaces: Develop web browser user interfaces using HTML5, CSS and JavaScript frameworks like ReactJS, Angular JS and plain Javascript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API Integration: Integrate the application with existing API’s to enable Data exchange and functionality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Middleware Development: Create or modify middleware for </a:t>
            </a:r>
            <a:r>
              <a:rPr lang="en-US" sz="1050" dirty="0" err="1"/>
              <a:t>Nod.js</a:t>
            </a:r>
            <a:r>
              <a:rPr lang="en-US" sz="1050" dirty="0"/>
              <a:t>-based API’s as necessary to facilitate communication and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API Development: Develop API’s using AWS Solutions including AWS </a:t>
            </a:r>
            <a:r>
              <a:rPr lang="en-US" sz="1050" dirty="0" err="1"/>
              <a:t>Laambda</a:t>
            </a:r>
            <a:r>
              <a:rPr lang="en-US" sz="1050" dirty="0"/>
              <a:t> functions and API Gateway for scalable and efficient data access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Data Integration: Connect the application with backend data sources such as S3, MySQL , Databricks, Athena and Redshift for data retrieval and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Data Visualization: Design Visualizations using tools like </a:t>
            </a:r>
            <a:r>
              <a:rPr lang="en-US" sz="1050" dirty="0" err="1"/>
              <a:t>HighCharts</a:t>
            </a:r>
            <a:r>
              <a:rPr lang="en-US" sz="1050" dirty="0"/>
              <a:t> and D3 to present data effectively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Testing and Document : Conduct Unit tests to ensure the quality of developed software and provide comprehensive documentation for reference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End-to-End Testing: Perform end-to-end testing to validate the functionality and performance of the developed software across entire application</a:t>
            </a:r>
          </a:p>
          <a:p>
            <a:endParaRPr lang="en-US" sz="1050" dirty="0"/>
          </a:p>
          <a:p>
            <a:pPr marL="171450" indent="-171450">
              <a:buFont typeface="Wingdings" pitchFamily="2" charset="2"/>
              <a:buChar char="Ø"/>
            </a:pPr>
            <a:r>
              <a:rPr lang="en-US" sz="1050" dirty="0"/>
              <a:t>In summary, the application development project involves creating user interface, integration with various API’s and data sources, developing middleware and API’s, designing visualizations, testing and documentation.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BE829845-01AA-8D47-AE7A-0A19A249F98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7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Development Services…Partners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1"/>
          </p:nvPr>
        </p:nvSpPr>
        <p:spPr>
          <a:xfrm>
            <a:off x="1241823" y="1358291"/>
            <a:ext cx="2317500" cy="1571176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Tx/>
              <a:buSzPct val="100000"/>
              <a:buNone/>
            </a:pPr>
            <a:endParaRPr lang="e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latin typeface="Calibri" panose="020F0502020204030204" pitchFamily="34" charset="0"/>
                <a:cs typeface="Calibri" panose="020F0502020204030204" pitchFamily="34" charset="0"/>
              </a:rPr>
              <a:t>Airtel </a:t>
            </a:r>
            <a:r>
              <a:rPr lang="en" sz="1200" dirty="0">
                <a:latin typeface="Calibri" panose="020F0502020204030204" pitchFamily="34" charset="0"/>
                <a:cs typeface="Calibri" panose="020F0502020204030204" pitchFamily="34" charset="0"/>
              </a:rPr>
              <a:t>Partner Registration &amp; Invoice Digitization Portal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latin typeface="Calibri" panose="020F0502020204030204" pitchFamily="34" charset="0"/>
                <a:cs typeface="Calibri" panose="020F0502020204030204" pitchFamily="34" charset="0"/>
              </a:rPr>
              <a:t>IFFCO</a:t>
            </a:r>
            <a:r>
              <a:rPr lang="en" sz="1200" dirty="0">
                <a:latin typeface="Calibri" panose="020F0502020204030204" pitchFamily="34" charset="0"/>
                <a:cs typeface="Calibri" panose="020F0502020204030204" pitchFamily="34" charset="0"/>
              </a:rPr>
              <a:t> SSC Sharjah AP Automation Portal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2"/>
          </p:nvPr>
        </p:nvSpPr>
        <p:spPr>
          <a:xfrm>
            <a:off x="3678173" y="1358291"/>
            <a:ext cx="2317500" cy="1571176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latin typeface="Calibri" panose="020F0502020204030204" pitchFamily="34" charset="0"/>
                <a:cs typeface="Calibri" panose="020F0502020204030204" pitchFamily="34" charset="0"/>
              </a:rPr>
              <a:t>Magma </a:t>
            </a:r>
            <a:r>
              <a:rPr lang="en" sz="1200" dirty="0">
                <a:latin typeface="Calibri" panose="020F0502020204030204" pitchFamily="34" charset="0"/>
                <a:cs typeface="Calibri" panose="020F0502020204030204" pitchFamily="34" charset="0"/>
              </a:rPr>
              <a:t>Leasing Portal Implementation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latin typeface="Calibri" panose="020F0502020204030204" pitchFamily="34" charset="0"/>
                <a:cs typeface="Calibri" panose="020F0502020204030204" pitchFamily="34" charset="0"/>
              </a:rPr>
              <a:t>Reliance Jio</a:t>
            </a:r>
            <a:r>
              <a:rPr lang="en" sz="1200" dirty="0">
                <a:latin typeface="Calibri" panose="020F0502020204030204" pitchFamily="34" charset="0"/>
                <a:cs typeface="Calibri" panose="020F0502020204030204" pitchFamily="34" charset="0"/>
              </a:rPr>
              <a:t> Portal Implementation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8" name="Google Shape;178;p22"/>
          <p:cNvSpPr txBox="1">
            <a:spLocks noGrp="1"/>
          </p:cNvSpPr>
          <p:nvPr>
            <p:ph type="body" idx="3"/>
          </p:nvPr>
        </p:nvSpPr>
        <p:spPr>
          <a:xfrm>
            <a:off x="6114522" y="1358290"/>
            <a:ext cx="2317500" cy="1571175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latin typeface="Calibri" panose="020F0502020204030204" pitchFamily="34" charset="0"/>
                <a:cs typeface="Calibri" panose="020F0502020204030204" pitchFamily="34" charset="0"/>
              </a:rPr>
              <a:t>Telenor</a:t>
            </a:r>
            <a:r>
              <a:rPr lang="en" sz="1200" dirty="0">
                <a:latin typeface="Calibri" panose="020F0502020204030204" pitchFamily="34" charset="0"/>
                <a:cs typeface="Calibri" panose="020F0502020204030204" pitchFamily="34" charset="0"/>
              </a:rPr>
              <a:t> 40 TB Data Migration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latin typeface="Calibri" panose="020F0502020204030204" pitchFamily="34" charset="0"/>
                <a:cs typeface="Calibri" panose="020F0502020204030204" pitchFamily="34" charset="0"/>
              </a:rPr>
              <a:t>Aircel</a:t>
            </a:r>
            <a:r>
              <a:rPr lang="en" sz="1200" dirty="0">
                <a:latin typeface="Calibri" panose="020F0502020204030204" pitchFamily="34" charset="0"/>
                <a:cs typeface="Calibri" panose="020F0502020204030204" pitchFamily="34" charset="0"/>
              </a:rPr>
              <a:t> Consumer Portal Optimization &amp; Upgrade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latin typeface="Calibri" panose="020F0502020204030204" pitchFamily="34" charset="0"/>
                <a:cs typeface="Calibri" panose="020F0502020204030204" pitchFamily="34" charset="0"/>
              </a:rPr>
              <a:t>Genpact</a:t>
            </a:r>
            <a:r>
              <a:rPr lang="en" sz="1200" dirty="0">
                <a:latin typeface="Calibri" panose="020F0502020204030204" pitchFamily="34" charset="0"/>
                <a:cs typeface="Calibri" panose="020F0502020204030204" pitchFamily="34" charset="0"/>
              </a:rPr>
              <a:t> Primavera Portal</a:t>
            </a:r>
          </a:p>
        </p:txBody>
      </p:sp>
      <p:sp>
        <p:nvSpPr>
          <p:cNvPr id="179" name="Google Shape;179;p22"/>
          <p:cNvSpPr txBox="1">
            <a:spLocks noGrp="1"/>
          </p:cNvSpPr>
          <p:nvPr>
            <p:ph type="sldNum" idx="12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76ECD16-0B52-E843-B305-45801845D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" y="4658073"/>
            <a:ext cx="1023015" cy="419437"/>
          </a:xfrm>
          <a:prstGeom prst="rect">
            <a:avLst/>
          </a:prstGeom>
        </p:spPr>
      </p:pic>
      <p:sp>
        <p:nvSpPr>
          <p:cNvPr id="9" name="Google Shape;176;p22">
            <a:extLst>
              <a:ext uri="{FF2B5EF4-FFF2-40B4-BE49-F238E27FC236}">
                <a16:creationId xmlns:a16="http://schemas.microsoft.com/office/drawing/2014/main" id="{01EBB933-46D7-3E43-A57A-A529379B0FCE}"/>
              </a:ext>
            </a:extLst>
          </p:cNvPr>
          <p:cNvSpPr txBox="1">
            <a:spLocks/>
          </p:cNvSpPr>
          <p:nvPr/>
        </p:nvSpPr>
        <p:spPr>
          <a:xfrm>
            <a:off x="1241823" y="3036784"/>
            <a:ext cx="2317500" cy="1571176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▪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●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Barlow"/>
              <a:buNone/>
            </a:pP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HPSEBL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Fusion Middleware Implementation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GE SBI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Fusion Middleware Implementation</a:t>
            </a:r>
          </a:p>
        </p:txBody>
      </p:sp>
      <p:sp>
        <p:nvSpPr>
          <p:cNvPr id="10" name="Google Shape;177;p22">
            <a:extLst>
              <a:ext uri="{FF2B5EF4-FFF2-40B4-BE49-F238E27FC236}">
                <a16:creationId xmlns:a16="http://schemas.microsoft.com/office/drawing/2014/main" id="{6A3DAE88-78FB-D24A-8A1B-7B1D583D03B6}"/>
              </a:ext>
            </a:extLst>
          </p:cNvPr>
          <p:cNvSpPr txBox="1">
            <a:spLocks/>
          </p:cNvSpPr>
          <p:nvPr/>
        </p:nvSpPr>
        <p:spPr>
          <a:xfrm>
            <a:off x="3678173" y="3036784"/>
            <a:ext cx="2317500" cy="1571176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▪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●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Barlow"/>
              <a:buNone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Nucor Steel 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US Fusion Middleware Implementation &amp; Service Orchestration</a:t>
            </a:r>
          </a:p>
        </p:txBody>
      </p:sp>
      <p:sp>
        <p:nvSpPr>
          <p:cNvPr id="11" name="Google Shape;178;p22">
            <a:extLst>
              <a:ext uri="{FF2B5EF4-FFF2-40B4-BE49-F238E27FC236}">
                <a16:creationId xmlns:a16="http://schemas.microsoft.com/office/drawing/2014/main" id="{8C5691C9-7619-6743-AABC-109A0D253386}"/>
              </a:ext>
            </a:extLst>
          </p:cNvPr>
          <p:cNvSpPr txBox="1">
            <a:spLocks/>
          </p:cNvSpPr>
          <p:nvPr/>
        </p:nvSpPr>
        <p:spPr>
          <a:xfrm>
            <a:off x="6114522" y="3036784"/>
            <a:ext cx="2317500" cy="1571175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▪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●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Barlow"/>
              <a:buNone/>
            </a:pP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Barlow"/>
              <a:buNone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GE Oil &amp; Gas 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Singapore Fusion Middleware Implementation &amp; Service Orchestration</a:t>
            </a:r>
          </a:p>
          <a:p>
            <a:pPr marL="0" indent="0">
              <a:buFont typeface="Barlow"/>
              <a:buNone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1AC421-2B36-2F46-87FE-7DCA61EA811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2" t="25305" r="9704" b="27656"/>
          <a:stretch/>
        </p:blipFill>
        <p:spPr bwMode="auto">
          <a:xfrm>
            <a:off x="1745200" y="1436158"/>
            <a:ext cx="1310745" cy="3155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539B9C4B-7B34-0542-B9DF-6B74A2041B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212" t="18503" r="7403" b="20441"/>
          <a:stretch/>
        </p:blipFill>
        <p:spPr>
          <a:xfrm>
            <a:off x="4385998" y="1433250"/>
            <a:ext cx="892117" cy="318497"/>
          </a:xfrm>
          <a:prstGeom prst="rect">
            <a:avLst/>
          </a:prstGeom>
        </p:spPr>
      </p:pic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2B43CD0C-F878-EB41-8F43-CE00C2DEE44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481" t="18612" r="10494" b="19506"/>
          <a:stretch/>
        </p:blipFill>
        <p:spPr>
          <a:xfrm>
            <a:off x="7031972" y="1401121"/>
            <a:ext cx="482600" cy="382754"/>
          </a:xfrm>
          <a:prstGeom prst="rect">
            <a:avLst/>
          </a:prstGeom>
        </p:spPr>
      </p:pic>
      <p:pic>
        <p:nvPicPr>
          <p:cNvPr id="7" name="Picture 6" descr="Logo&#10;&#10;Description automatically generated with medium confidence">
            <a:extLst>
              <a:ext uri="{FF2B5EF4-FFF2-40B4-BE49-F238E27FC236}">
                <a16:creationId xmlns:a16="http://schemas.microsoft.com/office/drawing/2014/main" id="{F560C756-AB0D-264A-973A-279EA3666B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7460" t="31868" r="17063" b="30198"/>
          <a:stretch/>
        </p:blipFill>
        <p:spPr>
          <a:xfrm>
            <a:off x="1850239" y="3132274"/>
            <a:ext cx="1100666" cy="195127"/>
          </a:xfrm>
          <a:prstGeom prst="rect">
            <a:avLst/>
          </a:prstGeom>
        </p:spPr>
      </p:pic>
      <p:pic>
        <p:nvPicPr>
          <p:cNvPr id="19" name="Picture 18" descr="Birlasoft Logo.jpg">
            <a:extLst>
              <a:ext uri="{FF2B5EF4-FFF2-40B4-BE49-F238E27FC236}">
                <a16:creationId xmlns:a16="http://schemas.microsoft.com/office/drawing/2014/main" id="{24271D61-00A1-3B4F-8489-039605BD75FC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726124" y="3115117"/>
            <a:ext cx="1094296" cy="329091"/>
          </a:xfrm>
          <a:prstGeom prst="rect">
            <a:avLst/>
          </a:prstGeom>
        </p:spPr>
      </p:pic>
      <p:pic>
        <p:nvPicPr>
          <p:cNvPr id="22" name="Picture 21" descr="KPIT  Logo.jpg">
            <a:extLst>
              <a:ext uri="{FF2B5EF4-FFF2-40B4-BE49-F238E27FC236}">
                <a16:creationId xmlns:a16="http://schemas.microsoft.com/office/drawing/2014/main" id="{8AD87E8A-D9EF-8E4B-A457-0BE37E069FA3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517750" y="3115071"/>
            <a:ext cx="628612" cy="467844"/>
          </a:xfrm>
          <a:prstGeom prst="rect">
            <a:avLst/>
          </a:prstGeom>
        </p:spPr>
      </p:pic>
      <p:pic>
        <p:nvPicPr>
          <p:cNvPr id="18" name="Picture 17" descr="A blue and white logo&#10;&#10;Description automatically generated">
            <a:extLst>
              <a:ext uri="{FF2B5EF4-FFF2-40B4-BE49-F238E27FC236}">
                <a16:creationId xmlns:a16="http://schemas.microsoft.com/office/drawing/2014/main" id="{75254F81-F07A-6A49-9509-4B9298CE2BF1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806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Development Services…Clients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" name="Google Shape;179;p22"/>
          <p:cNvSpPr txBox="1">
            <a:spLocks noGrp="1"/>
          </p:cNvSpPr>
          <p:nvPr>
            <p:ph type="sldNum" idx="12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76ECD16-0B52-E843-B305-45801845D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" y="4658073"/>
            <a:ext cx="1023015" cy="419437"/>
          </a:xfrm>
          <a:prstGeom prst="rect">
            <a:avLst/>
          </a:prstGeom>
        </p:spPr>
      </p:pic>
      <p:sp>
        <p:nvSpPr>
          <p:cNvPr id="18" name="Google Shape;176;p22">
            <a:extLst>
              <a:ext uri="{FF2B5EF4-FFF2-40B4-BE49-F238E27FC236}">
                <a16:creationId xmlns:a16="http://schemas.microsoft.com/office/drawing/2014/main" id="{F781280B-9FC0-8E4B-BE4A-4E2743347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24703" y="1358291"/>
            <a:ext cx="2317500" cy="1571176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Refund Management Process Implementation 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(BPM &amp; Portal)</a:t>
            </a:r>
          </a:p>
        </p:txBody>
      </p:sp>
      <p:sp>
        <p:nvSpPr>
          <p:cNvPr id="19" name="Google Shape;177;p22">
            <a:extLst>
              <a:ext uri="{FF2B5EF4-FFF2-40B4-BE49-F238E27FC236}">
                <a16:creationId xmlns:a16="http://schemas.microsoft.com/office/drawing/2014/main" id="{626D42C6-9732-2A41-A0C0-3D620229C65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861053" y="1358291"/>
            <a:ext cx="2317500" cy="1571176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Customs 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BOE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Module Implementation on Portal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Partner 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Screening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Process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On-Going Enhancements </a:t>
            </a:r>
          </a:p>
        </p:txBody>
      </p:sp>
      <p:sp>
        <p:nvSpPr>
          <p:cNvPr id="20" name="Google Shape;178;p22">
            <a:extLst>
              <a:ext uri="{FF2B5EF4-FFF2-40B4-BE49-F238E27FC236}">
                <a16:creationId xmlns:a16="http://schemas.microsoft.com/office/drawing/2014/main" id="{71490AC1-92B7-A944-B757-0D12944B6B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97402" y="1358290"/>
            <a:ext cx="2317500" cy="1571175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Global Invoice Dispatch System 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(GDS)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Implementation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Oracle 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ICS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Implementation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Oracle 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ICS to OIC 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Migration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Google Shape;176;p22">
            <a:extLst>
              <a:ext uri="{FF2B5EF4-FFF2-40B4-BE49-F238E27FC236}">
                <a16:creationId xmlns:a16="http://schemas.microsoft.com/office/drawing/2014/main" id="{0EC2B023-82C7-5E4C-AA30-61CC2287681D}"/>
              </a:ext>
            </a:extLst>
          </p:cNvPr>
          <p:cNvSpPr txBox="1">
            <a:spLocks/>
          </p:cNvSpPr>
          <p:nvPr/>
        </p:nvSpPr>
        <p:spPr>
          <a:xfrm>
            <a:off x="1424703" y="3036784"/>
            <a:ext cx="2317500" cy="1571176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▪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●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Barlow"/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SSC AP Automation 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Oracle ODI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Implementation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SSC AP Automation Portal On-Going Enhancements</a:t>
            </a:r>
          </a:p>
        </p:txBody>
      </p:sp>
      <p:sp>
        <p:nvSpPr>
          <p:cNvPr id="22" name="Google Shape;177;p22">
            <a:extLst>
              <a:ext uri="{FF2B5EF4-FFF2-40B4-BE49-F238E27FC236}">
                <a16:creationId xmlns:a16="http://schemas.microsoft.com/office/drawing/2014/main" id="{D681B308-821F-6542-B5E5-F70FBF2F30D5}"/>
              </a:ext>
            </a:extLst>
          </p:cNvPr>
          <p:cNvSpPr txBox="1">
            <a:spLocks/>
          </p:cNvSpPr>
          <p:nvPr/>
        </p:nvSpPr>
        <p:spPr>
          <a:xfrm>
            <a:off x="3861053" y="3050267"/>
            <a:ext cx="2317500" cy="1571176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▪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●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Barlow"/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Implementation of 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BPM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for billing of 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VAS</a:t>
            </a:r>
          </a:p>
        </p:txBody>
      </p:sp>
      <p:sp>
        <p:nvSpPr>
          <p:cNvPr id="23" name="Google Shape;178;p22">
            <a:extLst>
              <a:ext uri="{FF2B5EF4-FFF2-40B4-BE49-F238E27FC236}">
                <a16:creationId xmlns:a16="http://schemas.microsoft.com/office/drawing/2014/main" id="{989D31FE-6382-EE41-A9F0-6B3B34A5497F}"/>
              </a:ext>
            </a:extLst>
          </p:cNvPr>
          <p:cNvSpPr txBox="1">
            <a:spLocks/>
          </p:cNvSpPr>
          <p:nvPr/>
        </p:nvSpPr>
        <p:spPr>
          <a:xfrm>
            <a:off x="6297402" y="3036784"/>
            <a:ext cx="2317500" cy="1571175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▪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▫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●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○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Char char="■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Barlow"/>
              <a:buNone/>
            </a:pP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10 TB Consumer 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Data Migration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 from Legacy System to Newgen </a:t>
            </a:r>
            <a:r>
              <a:rPr lang="en-IN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OmniDocs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dirty="0">
                <a:latin typeface="Calibri" panose="020F0502020204030204" pitchFamily="34" charset="0"/>
                <a:cs typeface="Calibri" panose="020F0502020204030204" pitchFamily="34" charset="0"/>
              </a:rPr>
              <a:t>Content Management</a:t>
            </a:r>
          </a:p>
          <a:p>
            <a:pPr marL="0" indent="0">
              <a:buFont typeface="Barlow"/>
              <a:buNone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3F82A550-D563-A74E-ADAC-BD619BBBC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854" y="1448405"/>
            <a:ext cx="962990" cy="303342"/>
          </a:xfrm>
          <a:prstGeom prst="rect">
            <a:avLst/>
          </a:prstGeom>
        </p:spPr>
      </p:pic>
      <p:pic>
        <p:nvPicPr>
          <p:cNvPr id="34" name="Picture 33" descr="Logo&#10;&#10;Description automatically generated">
            <a:extLst>
              <a:ext uri="{FF2B5EF4-FFF2-40B4-BE49-F238E27FC236}">
                <a16:creationId xmlns:a16="http://schemas.microsoft.com/office/drawing/2014/main" id="{5B1B4B65-537C-CB41-8442-F22364390F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620" y="1410627"/>
            <a:ext cx="1042305" cy="363741"/>
          </a:xfrm>
          <a:prstGeom prst="rect">
            <a:avLst/>
          </a:prstGeom>
        </p:spPr>
      </p:pic>
      <p:pic>
        <p:nvPicPr>
          <p:cNvPr id="17" name="Picture 16" descr="Logo, company name&#10;&#10;Description automatically generated">
            <a:extLst>
              <a:ext uri="{FF2B5EF4-FFF2-40B4-BE49-F238E27FC236}">
                <a16:creationId xmlns:a16="http://schemas.microsoft.com/office/drawing/2014/main" id="{DAB804E0-564A-104A-A06E-16D39E87732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152" t="27860" r="10933" b="28230"/>
          <a:stretch/>
        </p:blipFill>
        <p:spPr>
          <a:xfrm>
            <a:off x="6974657" y="1448405"/>
            <a:ext cx="962990" cy="3618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D4DEA47-A769-194E-8C3D-83B503758A70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86" b="21924"/>
          <a:stretch/>
        </p:blipFill>
        <p:spPr>
          <a:xfrm>
            <a:off x="1917922" y="3129216"/>
            <a:ext cx="1331529" cy="34713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A30E21A-614A-9C4E-8C3F-B1B829F61C6A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060" y="3135566"/>
            <a:ext cx="744640" cy="452184"/>
          </a:xfrm>
          <a:prstGeom prst="rect">
            <a:avLst/>
          </a:prstGeom>
        </p:spPr>
      </p:pic>
      <p:pic>
        <p:nvPicPr>
          <p:cNvPr id="39" name="Picture 38" descr="Logo, company name&#10;&#10;Description automatically generated">
            <a:extLst>
              <a:ext uri="{FF2B5EF4-FFF2-40B4-BE49-F238E27FC236}">
                <a16:creationId xmlns:a16="http://schemas.microsoft.com/office/drawing/2014/main" id="{F8BA9253-8142-A44D-A9E9-4F70FF0A61F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27745" b="27414"/>
          <a:stretch/>
        </p:blipFill>
        <p:spPr>
          <a:xfrm>
            <a:off x="4572000" y="3135566"/>
            <a:ext cx="924206" cy="414416"/>
          </a:xfrm>
          <a:prstGeom prst="rect">
            <a:avLst/>
          </a:prstGeom>
        </p:spPr>
      </p:pic>
      <p:pic>
        <p:nvPicPr>
          <p:cNvPr id="24" name="Picture 23" descr="A blue and white logo&#10;&#10;Description automatically generated">
            <a:extLst>
              <a:ext uri="{FF2B5EF4-FFF2-40B4-BE49-F238E27FC236}">
                <a16:creationId xmlns:a16="http://schemas.microsoft.com/office/drawing/2014/main" id="{63031B08-7610-C84A-89EB-2EFBD9DA284B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26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3364"/>
            <a:ext cx="7886700" cy="994172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Maharashtra Govt.-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CM Dashboard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…</a:t>
            </a:r>
            <a:r>
              <a:rPr lang="en-US" sz="1300" dirty="0">
                <a:latin typeface="Calibri" panose="020F0502020204030204" pitchFamily="34" charset="0"/>
                <a:cs typeface="Calibri" panose="020F0502020204030204" pitchFamily="34" charset="0"/>
              </a:rPr>
              <a:t>thru a partner front-end company</a:t>
            </a:r>
            <a:endParaRPr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solidFill>
                  <a:srgbClr val="000000"/>
                </a:solidFill>
                <a:latin typeface="Calibri"/>
              </a:rPr>
              <a:t>Empowering Maharashtra Government Digital Transformation through Datalake Solution for CM Dashboard</a:t>
            </a:r>
            <a:endParaRPr lang="en-US" sz="1800" dirty="0">
              <a:solidFill>
                <a:srgbClr val="000000"/>
              </a:solidFill>
              <a:latin typeface="Calibri"/>
            </a:endParaRPr>
          </a:p>
          <a:p>
            <a:pPr marL="0" indent="0">
              <a:buNone/>
            </a:pPr>
            <a:endParaRPr sz="1800" dirty="0">
              <a:solidFill>
                <a:srgbClr val="000000"/>
              </a:solidFill>
              <a:latin typeface="Calibri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libri"/>
              </a:rPr>
              <a:t>Using </a:t>
            </a:r>
            <a:r>
              <a:rPr sz="1800" dirty="0">
                <a:solidFill>
                  <a:srgbClr val="000000"/>
                </a:solidFill>
                <a:latin typeface="Calibri"/>
              </a:rPr>
              <a:t> Unified Data Analysis Solution, business intelligence, data architecture, and cloud-native reportin</a:t>
            </a:r>
            <a:r>
              <a:rPr lang="en-US" sz="1800" dirty="0">
                <a:solidFill>
                  <a:srgbClr val="000000"/>
                </a:solidFill>
                <a:latin typeface="Calibri"/>
              </a:rPr>
              <a:t>g</a:t>
            </a:r>
            <a:r>
              <a:rPr sz="1800" dirty="0">
                <a:solidFill>
                  <a:srgbClr val="000000"/>
                </a:solidFill>
                <a:latin typeface="Calibri"/>
              </a:rPr>
              <a:t> to design and deliver an integrated analytics ecosystem using Microsoft Fabric. This solution empowers departments to make timely, data-backed decisions through real-time dashboards and structured insights across various Chief Minister-led schemes.</a:t>
            </a:r>
            <a:endParaRPr lang="en-US" sz="1800" dirty="0">
              <a:solidFill>
                <a:srgbClr val="000000"/>
              </a:solidFill>
              <a:latin typeface="Calibri"/>
            </a:endParaRPr>
          </a:p>
          <a:p>
            <a:pPr marL="0" indent="0">
              <a:buNone/>
            </a:pPr>
            <a:endParaRPr sz="1800" dirty="0">
              <a:solidFill>
                <a:srgbClr val="000000"/>
              </a:solidFill>
              <a:latin typeface="Calibri"/>
            </a:endParaRPr>
          </a:p>
          <a:p>
            <a:r>
              <a:rPr sz="1800" dirty="0">
                <a:solidFill>
                  <a:srgbClr val="000000"/>
                </a:solidFill>
                <a:latin typeface="Calibri"/>
              </a:rPr>
              <a:t>Successfully developed and deployed over 1000+ advanced dashboards covering a wide array of Maharashtra’s key welfare and development schemes</a:t>
            </a:r>
          </a:p>
        </p:txBody>
      </p:sp>
      <p:pic>
        <p:nvPicPr>
          <p:cNvPr id="4" name="Picture 3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6217920"/>
            <a:ext cx="1032387" cy="457200"/>
          </a:xfrm>
          <a:prstGeom prst="rect">
            <a:avLst/>
          </a:prstGeom>
        </p:spPr>
      </p:pic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DAB0AEE5-A7CD-9D40-850F-FD5B125517C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613E-F13B-4240-9FEB-916F81AB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86FEC-D261-2F4A-AD5D-73AE37E9A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A960F-95F3-B64B-A53B-31C78D9757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C0E8E-AB51-3745-B6EA-000404154B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C91A7686-3631-2D4C-9418-1655BC8A9A5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35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54F8-CC2D-034D-9F53-92B06CB92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81F37-C2F2-7D4D-A483-D91A35461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510CA-5A94-FF40-AFE6-A408BB4E9A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657BF-6B26-0848-835F-B803FEC6C0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985962" y="-604520"/>
            <a:ext cx="13115925" cy="6352540"/>
          </a:xfrm>
          <a:prstGeom prst="rect">
            <a:avLst/>
          </a:prstGeom>
        </p:spPr>
      </p:pic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212F8A6B-441C-CB40-9431-80EB69A1A2D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101263" y="-508716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89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B20E85B-6066-A8CB-BD41-D62E09897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15" y="459652"/>
            <a:ext cx="1042305" cy="4027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650134-4252-F448-8B16-6A91EFC24A9A}"/>
              </a:ext>
            </a:extLst>
          </p:cNvPr>
          <p:cNvSpPr txBox="1"/>
          <p:nvPr/>
        </p:nvSpPr>
        <p:spPr>
          <a:xfrm>
            <a:off x="628650" y="910590"/>
            <a:ext cx="7820914" cy="4054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Key Functional Modules:</a:t>
            </a:r>
          </a:p>
          <a:p>
            <a:pPr lvl="0"/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AutoNum type="arabicPeriod"/>
            </a:pP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Supplier Onboarding &amp; Site Creation</a:t>
            </a:r>
          </a:p>
          <a:p>
            <a:pPr marL="228600" lvl="0" indent="-228600">
              <a:buAutoNum type="arabicPeriod"/>
            </a:pP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Domestic &amp; Foreign partner registration with approval workflows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Integrated with DMS, NSDL, GSTN, Penny Testing &amp; Oracle EBS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Automated ERP updates for supplier/site data</a:t>
            </a:r>
          </a:p>
          <a:p>
            <a:pPr lvl="1"/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2.   Supplier Maintenance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Portal-based change requests (Org, Bank, Contacts)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Approval dashboards for Master &amp; CA teams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Real-time ERP sync for updates</a:t>
            </a:r>
          </a:p>
          <a:p>
            <a:pPr lvl="1"/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3.   Invoice Processing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Dashboards for invoice creation, tracking &amp; approval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Workflow routing via DOA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ASN generation &amp; ERP posting upon approval</a:t>
            </a:r>
          </a:p>
          <a:p>
            <a:pPr lvl="1"/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4.   Bill of Entry (BoE)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Shipping info submission, checklist validation, invoice sync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Multi-role dashboards (Partner, CHA, SCM, IP)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/>
              <a:t>Integrations: Oracle EBS, Airtel SSO, DMS, NSDL, GSTN, eMudhra, Logisys, ServiceNow, Email/SMS Gateways</a:t>
            </a:r>
          </a:p>
          <a:p>
            <a:endParaRPr lang="en-US" sz="1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596B32-6935-744F-9A1F-16C20DA65AF8}"/>
              </a:ext>
            </a:extLst>
          </p:cNvPr>
          <p:cNvSpPr txBox="1">
            <a:spLocks/>
          </p:cNvSpPr>
          <p:nvPr/>
        </p:nvSpPr>
        <p:spPr>
          <a:xfrm>
            <a:off x="459487" y="284480"/>
            <a:ext cx="7820914" cy="52976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Airtel Partner Portal &amp; Invoice Digitization Project</a:t>
            </a:r>
            <a:b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FF4515E8-5A91-3B4C-A938-7F1491B14BE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26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411480"/>
            <a:ext cx="8208777" cy="8503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2400" b="1" kern="12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Himachal Pradesh State Electricity Board Project</a:t>
            </a:r>
            <a:br>
              <a:rPr lang="en-US" sz="2400" b="1" kern="12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b="1" kern="12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8AEB2621-A563-1DCE-A3C7-12BFE765C5B0}"/>
              </a:ext>
            </a:extLst>
          </p:cNvPr>
          <p:cNvGraphicFramePr/>
          <p:nvPr/>
        </p:nvGraphicFramePr>
        <p:xfrm>
          <a:off x="459486" y="1410788"/>
          <a:ext cx="8323007" cy="3310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yellow circle with a picture of a power line and mountains&#10;&#10;Description automatically generated">
            <a:extLst>
              <a:ext uri="{FF2B5EF4-FFF2-40B4-BE49-F238E27FC236}">
                <a16:creationId xmlns:a16="http://schemas.microsoft.com/office/drawing/2014/main" id="{9C04BB34-6CAF-EED5-3E42-74280A2AA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841" y="120893"/>
            <a:ext cx="1235119" cy="1289895"/>
          </a:xfrm>
          <a:prstGeom prst="rect">
            <a:avLst/>
          </a:prstGeom>
        </p:spPr>
      </p:pic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2EC19656-C67F-DC46-9EBE-7988D6D894D7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31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491303" y="137978"/>
            <a:ext cx="67395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Managed Services…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Google Shape;176;p22">
            <a:extLst>
              <a:ext uri="{FF2B5EF4-FFF2-40B4-BE49-F238E27FC236}">
                <a16:creationId xmlns:a16="http://schemas.microsoft.com/office/drawing/2014/main" id="{F70885B4-413A-AE42-B23C-24CD93B0C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24703" y="1358291"/>
            <a:ext cx="2317500" cy="1571176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Airtel </a:t>
            </a:r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Partner Registration &amp; Invoice Digitization Portal Support</a:t>
            </a:r>
          </a:p>
        </p:txBody>
      </p:sp>
      <p:sp>
        <p:nvSpPr>
          <p:cNvPr id="19" name="Google Shape;177;p22">
            <a:extLst>
              <a:ext uri="{FF2B5EF4-FFF2-40B4-BE49-F238E27FC236}">
                <a16:creationId xmlns:a16="http://schemas.microsoft.com/office/drawing/2014/main" id="{53A6FD41-64EB-464D-B0EB-71C13371D51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861053" y="1358291"/>
            <a:ext cx="2317500" cy="2335168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Airtel </a:t>
            </a:r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Partner Registration &amp; Invoice Digitization Portal Support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IFFCO</a:t>
            </a:r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SSC Sharjah AP Automation Portal Support</a:t>
            </a:r>
          </a:p>
        </p:txBody>
      </p:sp>
      <p:sp>
        <p:nvSpPr>
          <p:cNvPr id="20" name="Google Shape;178;p22">
            <a:extLst>
              <a:ext uri="{FF2B5EF4-FFF2-40B4-BE49-F238E27FC236}">
                <a16:creationId xmlns:a16="http://schemas.microsoft.com/office/drawing/2014/main" id="{A15ECEEA-CE33-5444-87E6-9F3CDCB08D87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97402" y="1358290"/>
            <a:ext cx="2317500" cy="1571175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HPSEBL </a:t>
            </a:r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Integration Services and OWCC Support</a:t>
            </a:r>
          </a:p>
        </p:txBody>
      </p:sp>
      <p:sp>
        <p:nvSpPr>
          <p:cNvPr id="179" name="Google Shape;179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76ECD16-0B52-E843-B305-45801845D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" y="4658073"/>
            <a:ext cx="1023015" cy="4194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F863CA-5C75-1A45-830D-05EB1FFA65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2" t="25305" r="9704" b="27656"/>
          <a:stretch/>
        </p:blipFill>
        <p:spPr bwMode="auto">
          <a:xfrm>
            <a:off x="4359563" y="1436158"/>
            <a:ext cx="1310745" cy="3155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7" name="Picture 26" descr="Logo&#10;&#10;Description automatically generated with medium confidence">
            <a:extLst>
              <a:ext uri="{FF2B5EF4-FFF2-40B4-BE49-F238E27FC236}">
                <a16:creationId xmlns:a16="http://schemas.microsoft.com/office/drawing/2014/main" id="{7D133439-904F-5342-9E6A-3A894319AC5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460" t="31868" r="17063" b="30198"/>
          <a:stretch/>
        </p:blipFill>
        <p:spPr>
          <a:xfrm>
            <a:off x="6909004" y="1436158"/>
            <a:ext cx="1100666" cy="195127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4D5EA663-54D4-3A42-9025-A83290D389E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71" t="20730" r="10418" b="40959"/>
          <a:stretch/>
        </p:blipFill>
        <p:spPr>
          <a:xfrm>
            <a:off x="1999173" y="1453092"/>
            <a:ext cx="1160005" cy="315589"/>
          </a:xfrm>
          <a:prstGeom prst="rect">
            <a:avLst/>
          </a:prstGeom>
        </p:spPr>
      </p:pic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FA39EE7A-C537-1747-BF2F-1B27EA7DD27E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14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491303" y="255996"/>
            <a:ext cx="67395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Managed Services…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Google Shape;176;p22">
            <a:extLst>
              <a:ext uri="{FF2B5EF4-FFF2-40B4-BE49-F238E27FC236}">
                <a16:creationId xmlns:a16="http://schemas.microsoft.com/office/drawing/2014/main" id="{B42688FA-22F2-054C-9380-6D0711C9B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24704" y="1358291"/>
            <a:ext cx="1972832" cy="2472030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 Invoice Dispatch System </a:t>
            </a:r>
            <a:r>
              <a:rPr lang="en-IN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(GDS)</a:t>
            </a:r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Support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Primavera</a:t>
            </a:r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Portal Support</a:t>
            </a: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OIC </a:t>
            </a:r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Integration Service Support</a:t>
            </a:r>
          </a:p>
        </p:txBody>
      </p:sp>
      <p:sp>
        <p:nvSpPr>
          <p:cNvPr id="24" name="Google Shape;177;p22">
            <a:extLst>
              <a:ext uri="{FF2B5EF4-FFF2-40B4-BE49-F238E27FC236}">
                <a16:creationId xmlns:a16="http://schemas.microsoft.com/office/drawing/2014/main" id="{B7891407-3339-3747-A9D2-5123CDCF51F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861053" y="1358290"/>
            <a:ext cx="2287798" cy="2167231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SSC Sharjah AP Automation Portal Support</a:t>
            </a:r>
          </a:p>
        </p:txBody>
      </p:sp>
      <p:sp>
        <p:nvSpPr>
          <p:cNvPr id="25" name="Google Shape;178;p22">
            <a:extLst>
              <a:ext uri="{FF2B5EF4-FFF2-40B4-BE49-F238E27FC236}">
                <a16:creationId xmlns:a16="http://schemas.microsoft.com/office/drawing/2014/main" id="{15890B05-C4B2-CB46-BACF-6857D5041FE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97402" y="1358290"/>
            <a:ext cx="2287798" cy="2167230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Genpact Mavenlink</a:t>
            </a:r>
            <a:r>
              <a:rPr lang="en-I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Integration Support for Resourcing &amp; Skill Management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" name="Google Shape;179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76ECD16-0B52-E843-B305-45801845D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" y="4658073"/>
            <a:ext cx="1023015" cy="419437"/>
          </a:xfrm>
          <a:prstGeom prst="rect">
            <a:avLst/>
          </a:prstGeom>
        </p:spPr>
      </p:pic>
      <p:pic>
        <p:nvPicPr>
          <p:cNvPr id="29" name="Picture 28" descr="Logo, company name&#10;&#10;Description automatically generated">
            <a:extLst>
              <a:ext uri="{FF2B5EF4-FFF2-40B4-BE49-F238E27FC236}">
                <a16:creationId xmlns:a16="http://schemas.microsoft.com/office/drawing/2014/main" id="{61AFF86D-F760-9C46-A3DF-E6059229DD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152" t="27860" r="10933" b="28230"/>
          <a:stretch/>
        </p:blipFill>
        <p:spPr>
          <a:xfrm>
            <a:off x="2101958" y="1436158"/>
            <a:ext cx="962990" cy="3618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2F9FDFE-765B-C14A-AB26-E93A7510C3FF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86" b="21924"/>
          <a:stretch/>
        </p:blipFill>
        <p:spPr>
          <a:xfrm>
            <a:off x="4353805" y="1436158"/>
            <a:ext cx="1331529" cy="347133"/>
          </a:xfrm>
          <a:prstGeom prst="rect">
            <a:avLst/>
          </a:prstGeom>
        </p:spPr>
      </p:pic>
      <p:pic>
        <p:nvPicPr>
          <p:cNvPr id="31" name="Picture 30" descr="Logo, company name&#10;&#10;Description automatically generated">
            <a:extLst>
              <a:ext uri="{FF2B5EF4-FFF2-40B4-BE49-F238E27FC236}">
                <a16:creationId xmlns:a16="http://schemas.microsoft.com/office/drawing/2014/main" id="{8612D82C-19E2-1F4F-9F85-DB40AC1903C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78" b="33750"/>
          <a:stretch/>
        </p:blipFill>
        <p:spPr>
          <a:xfrm>
            <a:off x="7059361" y="1436158"/>
            <a:ext cx="793582" cy="391013"/>
          </a:xfrm>
          <a:prstGeom prst="rect">
            <a:avLst/>
          </a:prstGeom>
        </p:spPr>
      </p:pic>
      <p:pic>
        <p:nvPicPr>
          <p:cNvPr id="181" name="Picture 180" descr="Nile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6217920"/>
            <a:ext cx="1032387" cy="457200"/>
          </a:xfrm>
          <a:prstGeom prst="rect">
            <a:avLst/>
          </a:prstGeom>
        </p:spPr>
      </p:pic>
      <p:pic>
        <p:nvPicPr>
          <p:cNvPr id="13" name="Picture 12" descr="A blue and white logo&#10;&#10;Description automatically generated">
            <a:extLst>
              <a:ext uri="{FF2B5EF4-FFF2-40B4-BE49-F238E27FC236}">
                <a16:creationId xmlns:a16="http://schemas.microsoft.com/office/drawing/2014/main" id="{D0000E94-F73D-CF41-98C4-EF21C954A1D3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60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>
            <a:spLocks noGrp="1"/>
          </p:cNvSpPr>
          <p:nvPr>
            <p:ph type="title"/>
          </p:nvPr>
        </p:nvSpPr>
        <p:spPr>
          <a:xfrm>
            <a:off x="4771666" y="444986"/>
            <a:ext cx="4140514" cy="8093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SzPts val="2400"/>
            </a:pPr>
            <a:r>
              <a:rPr lang="en" sz="3300" dirty="0">
                <a:latin typeface="Calibri" panose="020F0502020204030204" pitchFamily="34" charset="0"/>
                <a:cs typeface="Calibri" panose="020F0502020204030204" pitchFamily="34" charset="0"/>
              </a:rPr>
              <a:t>Open Source</a:t>
            </a:r>
            <a:endParaRPr sz="3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1" name="Google Shape;341;p33"/>
          <p:cNvSpPr txBox="1">
            <a:spLocks noGrp="1"/>
          </p:cNvSpPr>
          <p:nvPr>
            <p:ph type="body" idx="1"/>
          </p:nvPr>
        </p:nvSpPr>
        <p:spPr>
          <a:xfrm>
            <a:off x="4865549" y="1349150"/>
            <a:ext cx="3933778" cy="2399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Opensource function works with a team of designers and content managers to produce industry leading Mobile &amp; Web Apps. Our experience of integration helps our customers in bi-directional integration of data from the Mobile App to the Web App or vice versa.</a:t>
            </a:r>
          </a:p>
          <a:p>
            <a:pPr algn="just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have a dedicated team of more than 30+ certified developers for iOS,  Android, PHP, React Native, React.JS, Node.JS, Mongo DB, Postgres SQL etc. with proven  experience in creating and modernizing Mobile &amp; Web apps and solutions.</a:t>
            </a:r>
          </a:p>
          <a:p>
            <a:pPr marL="88900" indent="0" algn="just">
              <a:buNone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oogle Shape;375;p35">
            <a:extLst>
              <a:ext uri="{FF2B5EF4-FFF2-40B4-BE49-F238E27FC236}">
                <a16:creationId xmlns:a16="http://schemas.microsoft.com/office/drawing/2014/main" id="{666E96C5-6EDF-7144-B39E-9F7B6FFBEE06}"/>
              </a:ext>
            </a:extLst>
          </p:cNvPr>
          <p:cNvGrpSpPr/>
          <p:nvPr/>
        </p:nvGrpSpPr>
        <p:grpSpPr>
          <a:xfrm>
            <a:off x="33314" y="1202860"/>
            <a:ext cx="3807391" cy="2103189"/>
            <a:chOff x="1177450" y="241631"/>
            <a:chExt cx="6173152" cy="3616776"/>
          </a:xfrm>
        </p:grpSpPr>
        <p:sp>
          <p:nvSpPr>
            <p:cNvPr id="13" name="Google Shape;376;p35">
              <a:extLst>
                <a:ext uri="{FF2B5EF4-FFF2-40B4-BE49-F238E27FC236}">
                  <a16:creationId xmlns:a16="http://schemas.microsoft.com/office/drawing/2014/main" id="{F5C8A47F-2C8E-3A45-956B-80D1EF8EA2D5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77;p35">
              <a:extLst>
                <a:ext uri="{FF2B5EF4-FFF2-40B4-BE49-F238E27FC236}">
                  <a16:creationId xmlns:a16="http://schemas.microsoft.com/office/drawing/2014/main" id="{723484F4-4B8A-CD4A-936C-CD19B05C481A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378;p35">
              <a:extLst>
                <a:ext uri="{FF2B5EF4-FFF2-40B4-BE49-F238E27FC236}">
                  <a16:creationId xmlns:a16="http://schemas.microsoft.com/office/drawing/2014/main" id="{C2455050-A47B-3649-83B1-EBC9B469BA58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79;p35">
              <a:extLst>
                <a:ext uri="{FF2B5EF4-FFF2-40B4-BE49-F238E27FC236}">
                  <a16:creationId xmlns:a16="http://schemas.microsoft.com/office/drawing/2014/main" id="{DDB0FF68-3829-E049-97FF-9B6359C9C41C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380;p35">
            <a:extLst>
              <a:ext uri="{FF2B5EF4-FFF2-40B4-BE49-F238E27FC236}">
                <a16:creationId xmlns:a16="http://schemas.microsoft.com/office/drawing/2014/main" id="{91F2B0A6-13E4-EA4A-8CBF-CF29624DCC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6620"/>
          <a:stretch/>
        </p:blipFill>
        <p:spPr>
          <a:xfrm>
            <a:off x="463598" y="1321301"/>
            <a:ext cx="2959396" cy="17724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357;p34">
            <a:extLst>
              <a:ext uri="{FF2B5EF4-FFF2-40B4-BE49-F238E27FC236}">
                <a16:creationId xmlns:a16="http://schemas.microsoft.com/office/drawing/2014/main" id="{0AF1E8C9-9A54-5F40-8151-E811CE3121BD}"/>
              </a:ext>
            </a:extLst>
          </p:cNvPr>
          <p:cNvGrpSpPr/>
          <p:nvPr/>
        </p:nvGrpSpPr>
        <p:grpSpPr>
          <a:xfrm>
            <a:off x="2644908" y="2856393"/>
            <a:ext cx="1592026" cy="2105791"/>
            <a:chOff x="2112475" y="238125"/>
            <a:chExt cx="3395050" cy="5238750"/>
          </a:xfrm>
        </p:grpSpPr>
        <p:sp>
          <p:nvSpPr>
            <p:cNvPr id="19" name="Google Shape;358;p34">
              <a:extLst>
                <a:ext uri="{FF2B5EF4-FFF2-40B4-BE49-F238E27FC236}">
                  <a16:creationId xmlns:a16="http://schemas.microsoft.com/office/drawing/2014/main" id="{2BE8499D-53F8-994F-85B6-B210D33355BA}"/>
                </a:ext>
              </a:extLst>
            </p:cNvPr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59;p34">
              <a:extLst>
                <a:ext uri="{FF2B5EF4-FFF2-40B4-BE49-F238E27FC236}">
                  <a16:creationId xmlns:a16="http://schemas.microsoft.com/office/drawing/2014/main" id="{3EFD8760-EFC4-A349-8C01-0EF9B6B80775}"/>
                </a:ext>
              </a:extLst>
            </p:cNvPr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60;p34">
              <a:extLst>
                <a:ext uri="{FF2B5EF4-FFF2-40B4-BE49-F238E27FC236}">
                  <a16:creationId xmlns:a16="http://schemas.microsoft.com/office/drawing/2014/main" id="{DB53A3E4-6E56-D445-9E79-A1E433747AF1}"/>
                </a:ext>
              </a:extLst>
            </p:cNvPr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61;p34">
              <a:extLst>
                <a:ext uri="{FF2B5EF4-FFF2-40B4-BE49-F238E27FC236}">
                  <a16:creationId xmlns:a16="http://schemas.microsoft.com/office/drawing/2014/main" id="{372BA7BD-64D1-7B4A-9170-C3792B6E6660}"/>
                </a:ext>
              </a:extLst>
            </p:cNvPr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Google Shape;364;p34">
            <a:extLst>
              <a:ext uri="{FF2B5EF4-FFF2-40B4-BE49-F238E27FC236}">
                <a16:creationId xmlns:a16="http://schemas.microsoft.com/office/drawing/2014/main" id="{2766BFB6-4606-1647-84E2-BCF50D28A55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5229" y="3054471"/>
            <a:ext cx="1511384" cy="171491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" name="Picture 2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D14B6B0-EA8A-514A-BC9D-8AACF86AE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33" y="4658073"/>
            <a:ext cx="1023015" cy="419437"/>
          </a:xfrm>
          <a:prstGeom prst="rect">
            <a:avLst/>
          </a:prstGeom>
        </p:spPr>
      </p:pic>
      <p:grpSp>
        <p:nvGrpSpPr>
          <p:cNvPr id="343" name="Google Shape;343;p33"/>
          <p:cNvGrpSpPr/>
          <p:nvPr/>
        </p:nvGrpSpPr>
        <p:grpSpPr>
          <a:xfrm>
            <a:off x="3085511" y="278009"/>
            <a:ext cx="1058700" cy="2009099"/>
            <a:chOff x="2547150" y="238125"/>
            <a:chExt cx="2525675" cy="5238750"/>
          </a:xfrm>
        </p:grpSpPr>
        <p:sp>
          <p:nvSpPr>
            <p:cNvPr id="344" name="Google Shape;344;p33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0" name="Google Shape;350;p33"/>
          <p:cNvPicPr preferRelativeResize="0"/>
          <p:nvPr/>
        </p:nvPicPr>
        <p:blipFill rotWithShape="1">
          <a:blip r:embed="rId6">
            <a:alphaModFix/>
          </a:blip>
          <a:srcRect b="23786"/>
          <a:stretch/>
        </p:blipFill>
        <p:spPr>
          <a:xfrm>
            <a:off x="3110035" y="464938"/>
            <a:ext cx="1011737" cy="165967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" name="Picture 24" descr="A blue and white logo&#10;&#10;Description automatically generated">
            <a:extLst>
              <a:ext uri="{FF2B5EF4-FFF2-40B4-BE49-F238E27FC236}">
                <a16:creationId xmlns:a16="http://schemas.microsoft.com/office/drawing/2014/main" id="{7867200B-6222-2D43-AC8C-E147879257BC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  <p:sp>
        <p:nvSpPr>
          <p:cNvPr id="26" name="Google Shape;349;p33">
            <a:extLst>
              <a:ext uri="{FF2B5EF4-FFF2-40B4-BE49-F238E27FC236}">
                <a16:creationId xmlns:a16="http://schemas.microsoft.com/office/drawing/2014/main" id="{009F65FD-539D-4B44-B85B-E94A5752A12E}"/>
              </a:ext>
            </a:extLst>
          </p:cNvPr>
          <p:cNvSpPr/>
          <p:nvPr/>
        </p:nvSpPr>
        <p:spPr>
          <a:xfrm>
            <a:off x="3825021" y="2355888"/>
            <a:ext cx="201273" cy="410683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>
            <a:spLocks noGrp="1"/>
          </p:cNvSpPr>
          <p:nvPr>
            <p:ph type="title"/>
          </p:nvPr>
        </p:nvSpPr>
        <p:spPr>
          <a:xfrm>
            <a:off x="583445" y="241989"/>
            <a:ext cx="67395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Enterprise Customer Snapshot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1" name="Picture 40" descr="Genpact Logo.jpg">
            <a:extLst>
              <a:ext uri="{FF2B5EF4-FFF2-40B4-BE49-F238E27FC236}">
                <a16:creationId xmlns:a16="http://schemas.microsoft.com/office/drawing/2014/main" id="{D7A2A425-8D6E-0C48-A0D2-ACEB757559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36752" b="37206"/>
          <a:stretch/>
        </p:blipFill>
        <p:spPr>
          <a:xfrm>
            <a:off x="999223" y="1376312"/>
            <a:ext cx="1693613" cy="263953"/>
          </a:xfrm>
          <a:prstGeom prst="rect">
            <a:avLst/>
          </a:prstGeom>
        </p:spPr>
      </p:pic>
      <p:pic>
        <p:nvPicPr>
          <p:cNvPr id="42" name="Picture 41" descr="Makemytrip Logo.jpg">
            <a:extLst>
              <a:ext uri="{FF2B5EF4-FFF2-40B4-BE49-F238E27FC236}">
                <a16:creationId xmlns:a16="http://schemas.microsoft.com/office/drawing/2014/main" id="{BFA07983-81B6-144C-9BDD-8A0E1D50387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l="4345" t="23337" r="-4345" b="-8159"/>
          <a:stretch/>
        </p:blipFill>
        <p:spPr>
          <a:xfrm>
            <a:off x="1140215" y="1792073"/>
            <a:ext cx="1411627" cy="779677"/>
          </a:xfrm>
          <a:prstGeom prst="rect">
            <a:avLst/>
          </a:prstGeom>
        </p:spPr>
      </p:pic>
      <p:pic>
        <p:nvPicPr>
          <p:cNvPr id="43" name="Picture 42" descr="safexpress Logo.jpg">
            <a:extLst>
              <a:ext uri="{FF2B5EF4-FFF2-40B4-BE49-F238E27FC236}">
                <a16:creationId xmlns:a16="http://schemas.microsoft.com/office/drawing/2014/main" id="{ABED3E16-2AB1-3C4A-A157-E0F81F9B7CC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885172" y="1376312"/>
            <a:ext cx="1641427" cy="91919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F22D84F-89F6-E943-8A59-32F13468D485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35" y="1376312"/>
            <a:ext cx="1205837" cy="710225"/>
          </a:xfrm>
          <a:prstGeom prst="rect">
            <a:avLst/>
          </a:prstGeom>
        </p:spPr>
      </p:pic>
      <p:pic>
        <p:nvPicPr>
          <p:cNvPr id="45" name="Picture 44" descr="Logo&#10;&#10;Description automatically generated">
            <a:extLst>
              <a:ext uri="{FF2B5EF4-FFF2-40B4-BE49-F238E27FC236}">
                <a16:creationId xmlns:a16="http://schemas.microsoft.com/office/drawing/2014/main" id="{1F0B6CE1-7D76-A743-A470-5DC035A064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108" y="1411890"/>
            <a:ext cx="1205837" cy="45674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AA8689C-A63F-C44E-A707-D5C7E4DB2AE0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281" y="1482762"/>
            <a:ext cx="1048416" cy="385877"/>
          </a:xfrm>
          <a:prstGeom prst="rect">
            <a:avLst/>
          </a:prstGeom>
        </p:spPr>
      </p:pic>
      <p:pic>
        <p:nvPicPr>
          <p:cNvPr id="47" name="Picture 46" descr="HCL I  Logo.jpg">
            <a:extLst>
              <a:ext uri="{FF2B5EF4-FFF2-40B4-BE49-F238E27FC236}">
                <a16:creationId xmlns:a16="http://schemas.microsoft.com/office/drawing/2014/main" id="{47596A06-9EAA-B647-8725-0CC9891F293E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73624" y="2571750"/>
            <a:ext cx="1017685" cy="418564"/>
          </a:xfrm>
          <a:prstGeom prst="rect">
            <a:avLst/>
          </a:prstGeom>
        </p:spPr>
      </p:pic>
      <p:pic>
        <p:nvPicPr>
          <p:cNvPr id="48" name="Picture 47" descr="Wipro  Logo.jpg">
            <a:extLst>
              <a:ext uri="{FF2B5EF4-FFF2-40B4-BE49-F238E27FC236}">
                <a16:creationId xmlns:a16="http://schemas.microsoft.com/office/drawing/2014/main" id="{17A9EC08-A414-994F-A13F-50E9B81B890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405395" y="2447319"/>
            <a:ext cx="772589" cy="828346"/>
          </a:xfrm>
          <a:prstGeom prst="rect">
            <a:avLst/>
          </a:prstGeom>
        </p:spPr>
      </p:pic>
      <p:pic>
        <p:nvPicPr>
          <p:cNvPr id="49" name="Picture 48" descr="Logo, company name&#10;&#10;Description automatically generated">
            <a:extLst>
              <a:ext uri="{FF2B5EF4-FFF2-40B4-BE49-F238E27FC236}">
                <a16:creationId xmlns:a16="http://schemas.microsoft.com/office/drawing/2014/main" id="{5E703F94-8031-D244-861F-F7D398395C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489" y="2447319"/>
            <a:ext cx="980454" cy="752989"/>
          </a:xfrm>
          <a:prstGeom prst="rect">
            <a:avLst/>
          </a:prstGeom>
        </p:spPr>
      </p:pic>
      <p:pic>
        <p:nvPicPr>
          <p:cNvPr id="50" name="Picture 49" descr="KPIT  Logo.jpg">
            <a:extLst>
              <a:ext uri="{FF2B5EF4-FFF2-40B4-BE49-F238E27FC236}">
                <a16:creationId xmlns:a16="http://schemas.microsoft.com/office/drawing/2014/main" id="{C5DCB1D6-2170-7B44-B879-697E73ADD13B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718935" y="2443814"/>
            <a:ext cx="906196" cy="674436"/>
          </a:xfrm>
          <a:prstGeom prst="rect">
            <a:avLst/>
          </a:prstGeom>
        </p:spPr>
      </p:pic>
      <p:pic>
        <p:nvPicPr>
          <p:cNvPr id="51" name="Picture 50" descr="Oracle consulting.jpg">
            <a:extLst>
              <a:ext uri="{FF2B5EF4-FFF2-40B4-BE49-F238E27FC236}">
                <a16:creationId xmlns:a16="http://schemas.microsoft.com/office/drawing/2014/main" id="{4089FC3A-B140-D243-8660-A181FDAA45B0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/>
          <a:srcRect t="32959"/>
          <a:stretch/>
        </p:blipFill>
        <p:spPr>
          <a:xfrm>
            <a:off x="6117108" y="2443814"/>
            <a:ext cx="772590" cy="55021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B5F52DF-BC3D-5C42-AD19-3928F9C9D8E3}"/>
              </a:ext>
            </a:extLst>
          </p:cNvPr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450" y="2385359"/>
            <a:ext cx="1019175" cy="58501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1D4577A-BA60-FF46-BC56-C75AE2020300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13" b="19271"/>
          <a:stretch/>
        </p:blipFill>
        <p:spPr>
          <a:xfrm>
            <a:off x="1073624" y="3351427"/>
            <a:ext cx="921477" cy="418565"/>
          </a:xfrm>
          <a:prstGeom prst="rect">
            <a:avLst/>
          </a:prstGeom>
        </p:spPr>
      </p:pic>
      <p:pic>
        <p:nvPicPr>
          <p:cNvPr id="54" name="Picture 53" descr="Birlasoft Logo.jpg">
            <a:extLst>
              <a:ext uri="{FF2B5EF4-FFF2-40B4-BE49-F238E27FC236}">
                <a16:creationId xmlns:a16="http://schemas.microsoft.com/office/drawing/2014/main" id="{170B2F6F-8A8A-C245-8C06-E2B985EA1FBB}"/>
              </a:ext>
            </a:extLst>
          </p:cNvPr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2244541" y="3378804"/>
            <a:ext cx="1094296" cy="329091"/>
          </a:xfrm>
          <a:prstGeom prst="rect">
            <a:avLst/>
          </a:prstGeom>
        </p:spPr>
      </p:pic>
      <p:pic>
        <p:nvPicPr>
          <p:cNvPr id="55" name="Picture 54" descr="Mannai Logo.jpg">
            <a:extLst>
              <a:ext uri="{FF2B5EF4-FFF2-40B4-BE49-F238E27FC236}">
                <a16:creationId xmlns:a16="http://schemas.microsoft.com/office/drawing/2014/main" id="{1B8EE281-2A20-B74B-B541-DD9EDDCEE3B4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/>
          <a:srcRect l="16751" t="17356"/>
          <a:stretch/>
        </p:blipFill>
        <p:spPr>
          <a:xfrm>
            <a:off x="5903593" y="3002419"/>
            <a:ext cx="933253" cy="705476"/>
          </a:xfrm>
          <a:prstGeom prst="rect">
            <a:avLst/>
          </a:prstGeom>
        </p:spPr>
      </p:pic>
      <p:pic>
        <p:nvPicPr>
          <p:cNvPr id="56" name="Picture 55" descr="DSOA.jpg">
            <a:extLst>
              <a:ext uri="{FF2B5EF4-FFF2-40B4-BE49-F238E27FC236}">
                <a16:creationId xmlns:a16="http://schemas.microsoft.com/office/drawing/2014/main" id="{DDE64CC8-B582-A54F-830F-E94703EF7DE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32302" y="3212485"/>
            <a:ext cx="1094297" cy="51537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718257E-AB54-034F-A8E7-A4D06BCF4D6B}"/>
              </a:ext>
            </a:extLst>
          </p:cNvPr>
          <p:cNvPicPr/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272" y="3037799"/>
            <a:ext cx="1331529" cy="6166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CE95E67-C5D3-E54C-92AB-ABFFE39C8E55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26"/>
          <a:stretch/>
        </p:blipFill>
        <p:spPr>
          <a:xfrm>
            <a:off x="4957800" y="3135074"/>
            <a:ext cx="728106" cy="572821"/>
          </a:xfrm>
          <a:prstGeom prst="rect">
            <a:avLst/>
          </a:prstGeom>
        </p:spPr>
      </p:pic>
      <p:pic>
        <p:nvPicPr>
          <p:cNvPr id="59" name="Picture 58" descr="Nucor.jpg">
            <a:extLst>
              <a:ext uri="{FF2B5EF4-FFF2-40B4-BE49-F238E27FC236}">
                <a16:creationId xmlns:a16="http://schemas.microsoft.com/office/drawing/2014/main" id="{7FCF820D-D985-4545-9CE3-65A72FE777E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9280" y="4049735"/>
            <a:ext cx="1460870" cy="54987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3D87DEF-DAE3-A249-B002-8781C42B703C}"/>
              </a:ext>
            </a:extLst>
          </p:cNvPr>
          <p:cNvPicPr/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836" y="3812713"/>
            <a:ext cx="1141402" cy="103150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3A8DE51-C131-284B-9C76-ECBEAC49150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729" y="4117282"/>
            <a:ext cx="1711525" cy="345728"/>
          </a:xfrm>
          <a:prstGeom prst="rect">
            <a:avLst/>
          </a:prstGeom>
        </p:spPr>
      </p:pic>
      <p:pic>
        <p:nvPicPr>
          <p:cNvPr id="62" name="Picture 61" descr="Logo, company name&#10;&#10;Description automatically generated">
            <a:extLst>
              <a:ext uri="{FF2B5EF4-FFF2-40B4-BE49-F238E27FC236}">
                <a16:creationId xmlns:a16="http://schemas.microsoft.com/office/drawing/2014/main" id="{6FCA057B-A3FA-6E4F-B483-F7E5D1DD6B6C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78" b="33750"/>
          <a:stretch/>
        </p:blipFill>
        <p:spPr>
          <a:xfrm>
            <a:off x="6323498" y="3850098"/>
            <a:ext cx="1411627" cy="695535"/>
          </a:xfrm>
          <a:prstGeom prst="rect">
            <a:avLst/>
          </a:prstGeom>
        </p:spPr>
      </p:pic>
      <p:pic>
        <p:nvPicPr>
          <p:cNvPr id="63" name="Picture 6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5A6C139-8D4A-104B-940E-1EE8DD6FD1B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-361987" y="4617740"/>
            <a:ext cx="1023015" cy="419437"/>
          </a:xfrm>
          <a:prstGeom prst="rect">
            <a:avLst/>
          </a:prstGeom>
        </p:spPr>
      </p:pic>
      <p:pic>
        <p:nvPicPr>
          <p:cNvPr id="27" name="Picture 26" descr="A blue and white logo&#10;&#10;Description automatically generated">
            <a:extLst>
              <a:ext uri="{FF2B5EF4-FFF2-40B4-BE49-F238E27FC236}">
                <a16:creationId xmlns:a16="http://schemas.microsoft.com/office/drawing/2014/main" id="{069EF0BD-5F40-D84B-8591-5037DDCF2FF5}"/>
              </a:ext>
            </a:extLst>
          </p:cNvPr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77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B9C3-4429-5141-8018-507C880CD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579" y="2296159"/>
            <a:ext cx="3460800" cy="671855"/>
          </a:xfrm>
        </p:spPr>
        <p:txBody>
          <a:bodyPr/>
          <a:lstStyle/>
          <a:p>
            <a:r>
              <a:rPr lang="en-US" sz="4000" dirty="0"/>
              <a:t>Thank You</a:t>
            </a: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48A2BDB8-D71D-AA43-803F-30F0B7499C1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7481" y="108997"/>
            <a:ext cx="1028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43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{1383DF23-DF60-7A4D-A85E-171ED11B2123}tf10001119</Template>
  <TotalTime>7</TotalTime>
  <Words>1168</Words>
  <Application>Microsoft Macintosh PowerPoint</Application>
  <PresentationFormat>On-screen Show (16:9)</PresentationFormat>
  <Paragraphs>195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Barlow</vt:lpstr>
      <vt:lpstr>Calibri</vt:lpstr>
      <vt:lpstr>Wingdings</vt:lpstr>
      <vt:lpstr>Office Theme</vt:lpstr>
      <vt:lpstr>NILE TECHNOLOGIES  Developing a Compelling Model</vt:lpstr>
      <vt:lpstr>In Brief…</vt:lpstr>
      <vt:lpstr>Our Growth Journey…</vt:lpstr>
      <vt:lpstr>PowerPoint Presentation</vt:lpstr>
      <vt:lpstr>AI Capabilities…</vt:lpstr>
      <vt:lpstr>Why Nile…..</vt:lpstr>
      <vt:lpstr>Nile’s Application Development Projects…</vt:lpstr>
      <vt:lpstr>Development Services…Partners</vt:lpstr>
      <vt:lpstr>Development Services…Clients</vt:lpstr>
      <vt:lpstr>Maharashtra Govt.-CM Dashboard …thru a partner front-end company</vt:lpstr>
      <vt:lpstr>PowerPoint Presentation</vt:lpstr>
      <vt:lpstr>PowerPoint Presentation</vt:lpstr>
      <vt:lpstr>PowerPoint Presentation</vt:lpstr>
      <vt:lpstr>Himachal Pradesh State Electricity Board Project </vt:lpstr>
      <vt:lpstr>Managed Services…</vt:lpstr>
      <vt:lpstr>Managed Services…</vt:lpstr>
      <vt:lpstr>Open Source</vt:lpstr>
      <vt:lpstr>Enterprise Customer Snapshot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NILE TECHNOLOGIES  Developing a Compelling Model</dc:title>
  <dc:creator>Atul Kapoor</dc:creator>
  <cp:lastModifiedBy>Atul Kapoor</cp:lastModifiedBy>
  <cp:revision>3</cp:revision>
  <dcterms:created xsi:type="dcterms:W3CDTF">2025-06-27T09:05:09Z</dcterms:created>
  <dcterms:modified xsi:type="dcterms:W3CDTF">2026-09-02T09:01:43Z</dcterms:modified>
</cp:coreProperties>
</file>